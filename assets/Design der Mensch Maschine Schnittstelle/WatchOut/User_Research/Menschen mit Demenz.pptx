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4"/>
  </p:notesMasterIdLst>
  <p:handoutMasterIdLst>
    <p:handoutMasterId r:id="rId15"/>
  </p:handoutMasterIdLst>
  <p:sldIdLst>
    <p:sldId id="315" r:id="rId5"/>
    <p:sldId id="330" r:id="rId6"/>
    <p:sldId id="317" r:id="rId7"/>
    <p:sldId id="318" r:id="rId8"/>
    <p:sldId id="320" r:id="rId9"/>
    <p:sldId id="321" r:id="rId10"/>
    <p:sldId id="322" r:id="rId11"/>
    <p:sldId id="328" r:id="rId12"/>
    <p:sldId id="327" r:id="rId13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70AE"/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5388" autoAdjust="0"/>
  </p:normalViewPr>
  <p:slideViewPr>
    <p:cSldViewPr snapToGrid="0">
      <p:cViewPr varScale="1">
        <p:scale>
          <a:sx n="80" d="100"/>
          <a:sy n="80" d="100"/>
        </p:scale>
        <p:origin x="48" y="82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882" y="14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706DC2AA-3EE1-4710-B576-59ED6D0DAAB7}" type="datetime1">
              <a:rPr lang="de-DE" smtClean="0"/>
              <a:t>14.10.2024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4BF9A36D-7FAC-478F-9944-F324014F6FD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12A654F7-23CE-450C-96B0-AC7F00250D49}" type="datetime1">
              <a:rPr lang="de-DE" smtClean="0"/>
              <a:t>14.10.2024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D4B9A9E5-4F7F-4A7D-9DE1-899232329269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4B9A9E5-4F7F-4A7D-9DE1-899232329269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9E147-937E-7831-3D39-3F216748B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EB39CED-1798-50BB-F20F-3FB1A0CCA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8A98709-BC86-7B1F-1369-6965B54C1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5275508-ACB0-724C-8043-7A0405B9D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4B9A9E5-4F7F-4A7D-9DE1-899232329269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50266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4B9A9E5-4F7F-4A7D-9DE1-899232329269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36033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4B9A9E5-4F7F-4A7D-9DE1-899232329269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4B9A9E5-4F7F-4A7D-9DE1-899232329269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4B9A9E5-4F7F-4A7D-9DE1-899232329269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4B9A9E5-4F7F-4A7D-9DE1-899232329269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6565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7A464-F665-5B10-FCF7-A7F3B0019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23C3F7D-E945-E015-CCB5-8C8093DB1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ABBC91B-8A13-491A-148E-C556ECA50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E8C409-B2B6-DE88-F90D-074AE70DBE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4B9A9E5-4F7F-4A7D-9DE1-899232329269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01214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5B8FC-C541-4374-A280-7ADD5508C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0CB70CD-967F-70A0-442F-5C05FB6A84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438FE34-B355-9345-26FE-465ADD395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394ABD7-2991-E76C-8BD8-6D408C46BD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B9A9E5-4F7F-4A7D-9DE1-899232329269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1453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rtlCol="0" anchor="b">
            <a:normAutofit/>
          </a:bodyPr>
          <a:lstStyle>
            <a:lvl1pPr>
              <a:defRPr lang="de-DE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pic>
        <p:nvPicPr>
          <p:cNvPr id="7" name="Grafik 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infüh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 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fik 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rtlCol="0" anchor="b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buNone/>
              <a:defRPr lang="de-DE" sz="2000"/>
            </a:lvl1pPr>
            <a:lvl2pPr>
              <a:lnSpc>
                <a:spcPct val="120000"/>
              </a:lnSpc>
              <a:defRPr lang="de-DE" sz="1800"/>
            </a:lvl2pPr>
            <a:lvl3pPr>
              <a:lnSpc>
                <a:spcPct val="120000"/>
              </a:lnSpc>
              <a:defRPr lang="de-DE" sz="1600"/>
            </a:lvl3pPr>
            <a:lvl4pPr>
              <a:lnSpc>
                <a:spcPct val="120000"/>
              </a:lnSpc>
              <a:defRPr lang="de-DE" sz="1400"/>
            </a:lvl4pPr>
            <a:lvl5pPr>
              <a:lnSpc>
                <a:spcPct val="120000"/>
              </a:lnSpc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nitts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 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rtlCol="0" anchor="b">
            <a:normAutofit/>
          </a:bodyPr>
          <a:lstStyle>
            <a:lvl1pPr>
              <a:defRPr lang="de-DE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de-DE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Bild durch Klicken auf ein Symbol einzufügen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 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rtlCol="0" anchor="b">
            <a:normAutofit/>
          </a:bodyPr>
          <a:lstStyle>
            <a:lvl1pPr>
              <a:defRPr lang="de-DE" sz="48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de-DE" sz="2000"/>
            </a:lvl1pPr>
            <a:lvl2pPr marL="457200" indent="0">
              <a:buNone/>
              <a:defRPr lang="de-DE" sz="1800"/>
            </a:lvl2pPr>
            <a:lvl3pPr marL="914400" indent="0">
              <a:buNone/>
              <a:defRPr lang="de-DE" sz="1600"/>
            </a:lvl3pPr>
            <a:lvl4pPr marL="1371600" indent="0">
              <a:buNone/>
              <a:defRPr lang="de-DE" sz="1400"/>
            </a:lvl4pPr>
            <a:lvl5pPr marL="1828800" indent="0">
              <a:buNone/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 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fik 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/>
            </a:lvl1pPr>
            <a:lvl2pPr>
              <a:spcBef>
                <a:spcPts val="0"/>
              </a:spcBef>
              <a:spcAft>
                <a:spcPts val="1200"/>
              </a:spcAft>
              <a:defRPr lang="de-DE" sz="1800"/>
            </a:lvl2pPr>
            <a:lvl3pPr>
              <a:spcBef>
                <a:spcPts val="0"/>
              </a:spcBef>
              <a:spcAft>
                <a:spcPts val="1200"/>
              </a:spcAft>
              <a:defRPr lang="de-DE" sz="1600"/>
            </a:lvl3pPr>
            <a:lvl4pPr>
              <a:spcBef>
                <a:spcPts val="0"/>
              </a:spcBef>
              <a:spcAft>
                <a:spcPts val="1200"/>
              </a:spcAft>
              <a:defRPr lang="de-DE" sz="1400"/>
            </a:lvl4pPr>
            <a:lvl5pPr>
              <a:spcBef>
                <a:spcPts val="0"/>
              </a:spcBef>
              <a:spcAft>
                <a:spcPts val="1200"/>
              </a:spcAft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inhalt und linke Abbildung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 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rtlCol="0" anchor="b">
            <a:normAutofit/>
          </a:bodyPr>
          <a:lstStyle>
            <a:lvl1pPr>
              <a:defRPr lang="de-DE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l">
              <a:buNone/>
              <a:defRPr lang="de-DE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de-DE"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und zwei Inhalte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 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fik 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/>
            </a:lvl1pPr>
            <a:lvl2pPr>
              <a:spcBef>
                <a:spcPts val="0"/>
              </a:spcBef>
              <a:spcAft>
                <a:spcPts val="1200"/>
              </a:spcAft>
              <a:defRPr lang="de-DE" sz="1800"/>
            </a:lvl2pPr>
            <a:lvl3pPr>
              <a:spcBef>
                <a:spcPts val="0"/>
              </a:spcBef>
              <a:spcAft>
                <a:spcPts val="1200"/>
              </a:spcAft>
              <a:defRPr lang="de-DE" sz="1600"/>
            </a:lvl3pPr>
            <a:lvl4pPr>
              <a:spcBef>
                <a:spcPts val="0"/>
              </a:spcBef>
              <a:spcAft>
                <a:spcPts val="1200"/>
              </a:spcAft>
              <a:defRPr lang="de-DE" sz="1400"/>
            </a:lvl4pPr>
            <a:lvl5pPr>
              <a:spcBef>
                <a:spcPts val="0"/>
              </a:spcBef>
              <a:spcAft>
                <a:spcPts val="1200"/>
              </a:spcAft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/>
            </a:lvl1pPr>
            <a:lvl2pPr>
              <a:spcBef>
                <a:spcPts val="0"/>
              </a:spcBef>
              <a:spcAft>
                <a:spcPts val="1200"/>
              </a:spcAft>
              <a:defRPr lang="de-DE" sz="1800"/>
            </a:lvl2pPr>
            <a:lvl3pPr>
              <a:spcBef>
                <a:spcPts val="0"/>
              </a:spcBef>
              <a:spcAft>
                <a:spcPts val="1200"/>
              </a:spcAft>
              <a:defRPr lang="de-DE" sz="1600"/>
            </a:lvl3pPr>
            <a:lvl4pPr>
              <a:spcBef>
                <a:spcPts val="0"/>
              </a:spcBef>
              <a:spcAft>
                <a:spcPts val="1200"/>
              </a:spcAft>
              <a:defRPr lang="de-DE" sz="1400"/>
            </a:lvl4pPr>
            <a:lvl5pPr>
              <a:spcBef>
                <a:spcPts val="0"/>
              </a:spcBef>
              <a:spcAft>
                <a:spcPts val="1200"/>
              </a:spcAft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und zwei Inhalte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 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fik 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 b="1"/>
            </a:lvl1pPr>
            <a:lvl2pPr>
              <a:spcBef>
                <a:spcPts val="0"/>
              </a:spcBef>
              <a:spcAft>
                <a:spcPts val="1200"/>
              </a:spcAft>
              <a:defRPr lang="de-DE" sz="1800" b="1"/>
            </a:lvl2pPr>
            <a:lvl3pPr>
              <a:spcBef>
                <a:spcPts val="0"/>
              </a:spcBef>
              <a:spcAft>
                <a:spcPts val="1200"/>
              </a:spcAft>
              <a:defRPr lang="de-DE" sz="1600" b="1"/>
            </a:lvl3pPr>
            <a:lvl4pPr>
              <a:spcBef>
                <a:spcPts val="0"/>
              </a:spcBef>
              <a:spcAft>
                <a:spcPts val="1200"/>
              </a:spcAft>
              <a:defRPr lang="de-DE" sz="1400" b="1"/>
            </a:lvl4pPr>
            <a:lvl5pPr>
              <a:spcBef>
                <a:spcPts val="0"/>
              </a:spcBef>
              <a:spcAft>
                <a:spcPts val="1200"/>
              </a:spcAft>
              <a:defRPr lang="de-DE" sz="1400" b="1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/>
            </a:lvl1pPr>
            <a:lvl2pPr>
              <a:spcBef>
                <a:spcPts val="0"/>
              </a:spcBef>
              <a:spcAft>
                <a:spcPts val="1200"/>
              </a:spcAft>
              <a:defRPr lang="de-DE" sz="1800"/>
            </a:lvl2pPr>
            <a:lvl3pPr>
              <a:spcBef>
                <a:spcPts val="0"/>
              </a:spcBef>
              <a:spcAft>
                <a:spcPts val="1200"/>
              </a:spcAft>
              <a:defRPr lang="de-DE" sz="1600"/>
            </a:lvl3pPr>
            <a:lvl4pPr>
              <a:spcBef>
                <a:spcPts val="0"/>
              </a:spcBef>
              <a:spcAft>
                <a:spcPts val="1200"/>
              </a:spcAft>
              <a:defRPr lang="de-DE" sz="1400"/>
            </a:lvl4pPr>
            <a:lvl5pPr>
              <a:spcBef>
                <a:spcPts val="0"/>
              </a:spcBef>
              <a:spcAft>
                <a:spcPts val="1200"/>
              </a:spcAft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inhalt und recht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 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el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0" name="Inhaltsplatzhalt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 b="0"/>
            </a:lvl1pPr>
            <a:lvl2pPr>
              <a:spcBef>
                <a:spcPts val="0"/>
              </a:spcBef>
              <a:spcAft>
                <a:spcPts val="1200"/>
              </a:spcAft>
              <a:defRPr lang="de-DE" sz="1800" b="0"/>
            </a:lvl2pPr>
            <a:lvl3pPr>
              <a:spcBef>
                <a:spcPts val="0"/>
              </a:spcBef>
              <a:spcAft>
                <a:spcPts val="1200"/>
              </a:spcAft>
              <a:defRPr lang="de-DE" sz="1600" b="0"/>
            </a:lvl3pPr>
            <a:lvl4pPr>
              <a:spcBef>
                <a:spcPts val="0"/>
              </a:spcBef>
              <a:spcAft>
                <a:spcPts val="1200"/>
              </a:spcAft>
              <a:defRPr lang="de-DE" sz="1400" b="0"/>
            </a:lvl4pPr>
            <a:lvl5pPr>
              <a:spcBef>
                <a:spcPts val="0"/>
              </a:spcBef>
              <a:spcAft>
                <a:spcPts val="1200"/>
              </a:spcAft>
              <a:defRPr lang="de-DE" sz="1400" b="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inhalt und Tabelle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 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pic>
        <p:nvPicPr>
          <p:cNvPr id="9" name="Grafik 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 b="0"/>
            </a:lvl1pPr>
            <a:lvl2pPr>
              <a:spcBef>
                <a:spcPts val="0"/>
              </a:spcBef>
              <a:spcAft>
                <a:spcPts val="1200"/>
              </a:spcAft>
              <a:defRPr lang="de-DE" sz="1800" b="0"/>
            </a:lvl2pPr>
            <a:lvl3pPr>
              <a:spcBef>
                <a:spcPts val="0"/>
              </a:spcBef>
              <a:spcAft>
                <a:spcPts val="1200"/>
              </a:spcAft>
              <a:defRPr lang="de-DE" sz="1600" b="0"/>
            </a:lvl3pPr>
            <a:lvl4pPr>
              <a:spcBef>
                <a:spcPts val="0"/>
              </a:spcBef>
              <a:spcAft>
                <a:spcPts val="1200"/>
              </a:spcAft>
              <a:defRPr lang="de-DE" sz="1400" b="0"/>
            </a:lvl4pPr>
            <a:lvl5pPr>
              <a:spcBef>
                <a:spcPts val="0"/>
              </a:spcBef>
              <a:spcAft>
                <a:spcPts val="1200"/>
              </a:spcAft>
              <a:defRPr lang="de-DE" sz="1400" b="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3" name="Tabellenplatzhalter 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 rtlCol="0">
            <a:normAutofit/>
          </a:bodyPr>
          <a:lstStyle>
            <a:lvl1pPr>
              <a:defRPr lang="de-DE" sz="2000"/>
            </a:lvl1pPr>
          </a:lstStyle>
          <a:p>
            <a:pPr rtl="0"/>
            <a:r>
              <a:rPr lang="de-DE"/>
              <a:t>Tabelle durch Klicken auf das Symbol einzufügen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und zwei Inhalte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 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fik 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de-DE"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lang="de-DE"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lang="de-DE"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lang="de-DE"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lang="de-DE" sz="1600" b="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lang="de-DE"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lang="de-DE"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lang="de-DE"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lang="de-DE" sz="1400" b="1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 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9" name="Tabellenplatzhalter 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 rtlCol="0">
            <a:normAutofit/>
          </a:bodyPr>
          <a:lstStyle>
            <a:lvl1pPr>
              <a:defRPr lang="de-DE" sz="2400"/>
            </a:lvl1pPr>
          </a:lstStyle>
          <a:p>
            <a:pPr rtl="0"/>
            <a:r>
              <a:rPr lang="de-DE"/>
              <a:t>Tabelle durch Klicken auf Symbol hinzufügen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bemerkung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rtlCol="0" anchor="b">
            <a:normAutofit/>
          </a:bodyPr>
          <a:lstStyle>
            <a:lvl1pPr>
              <a:defRPr lang="de-DE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de-DE"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de-DE"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de-DE"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de-DE"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de-DE" sz="12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pic>
        <p:nvPicPr>
          <p:cNvPr id="2" name="Grafik 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9000">
              <a:schemeClr val="tx2">
                <a:lumMod val="20000"/>
                <a:lumOff val="80000"/>
              </a:schemeClr>
            </a:gs>
            <a:gs pos="19000">
              <a:srgbClr val="C9D1DC"/>
            </a:gs>
            <a:gs pos="0">
              <a:schemeClr val="tx2">
                <a:lumMod val="60000"/>
                <a:lumOff val="40000"/>
                <a:alpha val="2000"/>
              </a:schemeClr>
            </a:gs>
            <a:gs pos="70000">
              <a:schemeClr val="tx2">
                <a:lumMod val="40000"/>
                <a:lumOff val="60000"/>
                <a:alpha val="14000"/>
              </a:schemeClr>
            </a:gs>
            <a:gs pos="100000">
              <a:srgbClr val="2C70AE">
                <a:alpha val="58000"/>
              </a:srgbClr>
            </a:gs>
          </a:gsLst>
          <a:lin ang="14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e-DE"/>
              <a:t>Verkaufspräsentation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de-DE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de-DE"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eb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octorsofbc.ca/prevention-health-promotion/improving-lives-people-dementia" TargetMode="External"/><Relationship Id="rId3" Type="http://schemas.openxmlformats.org/officeDocument/2006/relationships/hyperlink" Target="https://www.alz.org/alzheimers-dementia/10_signs" TargetMode="External"/><Relationship Id="rId7" Type="http://schemas.openxmlformats.org/officeDocument/2006/relationships/hyperlink" Target="https://news.flinders.edu.au/blog/2020/10/16/home-based-care-for-people-living-with-dementia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cbassociatetraining.co.uk/what-is-dementia-care/" TargetMode="External"/><Relationship Id="rId5" Type="http://schemas.openxmlformats.org/officeDocument/2006/relationships/hyperlink" Target="https://salmonhealth.com/dementia-signs-behaviors-seniors/" TargetMode="External"/><Relationship Id="rId4" Type="http://schemas.openxmlformats.org/officeDocument/2006/relationships/hyperlink" Target="https://www.alz.org/alzheimers-dementia/stages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96100" y="6125407"/>
            <a:ext cx="5130801" cy="537908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By Linda Jakob, Tim Ruland &amp; Nicolas Weber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1</a:t>
            </a:fld>
            <a:endParaRPr lang="de-DE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732"/>
            <a:ext cx="5720080" cy="2376487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sz="4400" dirty="0">
                <a:solidFill>
                  <a:schemeClr val="tx1"/>
                </a:solidFill>
              </a:rPr>
              <a:t>USER RESEARCH</a:t>
            </a:r>
            <a:br>
              <a:rPr lang="de-DE" sz="4400" dirty="0">
                <a:solidFill>
                  <a:schemeClr val="tx1"/>
                </a:solidFill>
              </a:rPr>
            </a:br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239F11E-259C-8AE9-9F46-52B3C3344863}"/>
              </a:ext>
            </a:extLst>
          </p:cNvPr>
          <p:cNvSpPr txBox="1"/>
          <p:nvPr/>
        </p:nvSpPr>
        <p:spPr>
          <a:xfrm>
            <a:off x="914400" y="2100056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 err="1"/>
              <a:t>Supporting</a:t>
            </a:r>
            <a:r>
              <a:rPr lang="de-DE" sz="2800" dirty="0"/>
              <a:t> People With Dementia</a:t>
            </a:r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43B30CC-5413-4F86-E4FD-56A3A82F5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640830-B42B-B97A-26F6-4375C2604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sz="3200" dirty="0" err="1"/>
              <a:t>What</a:t>
            </a:r>
            <a:r>
              <a:rPr lang="de-DE" sz="3200" dirty="0"/>
              <a:t> </a:t>
            </a:r>
            <a:r>
              <a:rPr lang="de-DE" sz="3200" dirty="0" err="1"/>
              <a:t>is</a:t>
            </a:r>
            <a:r>
              <a:rPr lang="de-DE" sz="3200" dirty="0"/>
              <a:t> Dementia &amp; ALZHEIMER‘S?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179F10-87D1-7239-1C54-06FAEECD7C1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1849121"/>
            <a:ext cx="7813042" cy="4318000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cap="none" dirty="0"/>
              <a:t>Dementia is a general term for a decline in mental ability severe enough to interfere with daily life</a:t>
            </a: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cap="none" dirty="0"/>
              <a:t>Alzheimer's is a specific disease </a:t>
            </a:r>
            <a:r>
              <a:rPr lang="en-US" sz="1600" cap="none" dirty="0">
                <a:sym typeface="Wingdings" panose="05000000000000000000" pitchFamily="2" charset="2"/>
              </a:rPr>
              <a:t> </a:t>
            </a:r>
            <a:r>
              <a:rPr lang="en-US" sz="1600" b="1" cap="none" dirty="0"/>
              <a:t>accounts for most of the cases of dementia (60 – 80%)</a:t>
            </a: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endParaRPr lang="en-US" sz="1800" b="1" cap="none" dirty="0"/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1" cap="none" dirty="0"/>
              <a:t>Stages of Alzheimer’s</a:t>
            </a:r>
          </a:p>
          <a:p>
            <a:r>
              <a:rPr lang="en-US" sz="1600" cap="none" dirty="0"/>
              <a:t>Early-stage </a:t>
            </a:r>
            <a:r>
              <a:rPr lang="en-US" sz="1600" cap="none" dirty="0">
                <a:sym typeface="Wingdings" panose="05000000000000000000" pitchFamily="2" charset="2"/>
              </a:rPr>
              <a:t> person can function independently</a:t>
            </a:r>
          </a:p>
          <a:p>
            <a:r>
              <a:rPr lang="en-US" sz="1600" cap="none" dirty="0"/>
              <a:t>Middle-stage </a:t>
            </a:r>
            <a:r>
              <a:rPr lang="en-US" sz="1600" cap="none" dirty="0">
                <a:sym typeface="Wingdings" panose="05000000000000000000" pitchFamily="2" charset="2"/>
              </a:rPr>
              <a:t> longest stage, person can participate in daily activities with assistance</a:t>
            </a:r>
            <a:endParaRPr lang="en-US" sz="1600" cap="none" dirty="0"/>
          </a:p>
          <a:p>
            <a:r>
              <a:rPr lang="en-US" sz="1600" cap="none" dirty="0"/>
              <a:t>Late-stage </a:t>
            </a:r>
            <a:r>
              <a:rPr lang="en-US" sz="1600" cap="none" dirty="0">
                <a:sym typeface="Wingdings" panose="05000000000000000000" pitchFamily="2" charset="2"/>
              </a:rPr>
              <a:t> </a:t>
            </a:r>
            <a:r>
              <a:rPr lang="en-US" sz="1600" dirty="0">
                <a:sym typeface="Wingdings" panose="05000000000000000000" pitchFamily="2" charset="2"/>
              </a:rPr>
              <a:t>person </a:t>
            </a:r>
            <a:r>
              <a:rPr lang="en-US" sz="1600" cap="none" dirty="0">
                <a:sym typeface="Wingdings" panose="05000000000000000000" pitchFamily="2" charset="2"/>
              </a:rPr>
              <a:t>needs extensive care</a:t>
            </a:r>
            <a:endParaRPr lang="en-US" sz="1600" cap="none" dirty="0"/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de-DE" sz="1800" b="1" cap="none" dirty="0" err="1"/>
              <a:t>Our</a:t>
            </a:r>
            <a:r>
              <a:rPr lang="de-DE" sz="1800" b="1" cap="none" dirty="0"/>
              <a:t> </a:t>
            </a:r>
            <a:r>
              <a:rPr lang="de-DE" sz="1800" b="1" cap="none" dirty="0" err="1"/>
              <a:t>focus</a:t>
            </a:r>
            <a:endParaRPr lang="de-DE" sz="1800" b="1" cap="none" dirty="0"/>
          </a:p>
          <a:p>
            <a:r>
              <a:rPr lang="de-DE" sz="1600" dirty="0"/>
              <a:t>Middle Stage </a:t>
            </a:r>
            <a:r>
              <a:rPr lang="de-DE" sz="1600" dirty="0" err="1"/>
              <a:t>of</a:t>
            </a:r>
            <a:r>
              <a:rPr lang="de-DE" sz="1600" dirty="0"/>
              <a:t> </a:t>
            </a:r>
            <a:r>
              <a:rPr lang="de-DE" sz="1600" dirty="0" err="1"/>
              <a:t>Alzheimer‘s</a:t>
            </a:r>
            <a:r>
              <a:rPr lang="de-DE" sz="1600" dirty="0"/>
              <a:t> (</a:t>
            </a:r>
            <a:r>
              <a:rPr lang="de-DE" sz="1600" dirty="0" err="1"/>
              <a:t>lasts</a:t>
            </a:r>
            <a:r>
              <a:rPr lang="de-DE" sz="1600" dirty="0"/>
              <a:t> </a:t>
            </a:r>
            <a:r>
              <a:rPr lang="de-DE" sz="1600" dirty="0" err="1"/>
              <a:t>long</a:t>
            </a:r>
            <a:r>
              <a:rPr lang="de-DE" sz="1600" dirty="0"/>
              <a:t>, </a:t>
            </a:r>
            <a:r>
              <a:rPr lang="de-DE" sz="1600" dirty="0" err="1"/>
              <a:t>many</a:t>
            </a:r>
            <a:r>
              <a:rPr lang="de-DE" sz="1600" dirty="0"/>
              <a:t> </a:t>
            </a:r>
            <a:r>
              <a:rPr lang="de-DE" sz="1600" dirty="0" err="1"/>
              <a:t>possibilities</a:t>
            </a:r>
            <a:r>
              <a:rPr lang="de-DE" sz="1600" dirty="0"/>
              <a:t>)</a:t>
            </a:r>
            <a:endParaRPr lang="de-DE" sz="1600" cap="non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734A335-8473-2214-503B-46F7259D03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3149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DD59383-E6CD-CF57-B9CF-5820B1CE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317" y="590550"/>
            <a:ext cx="5879253" cy="876068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sz="3200" dirty="0"/>
              <a:t>SYMPTOMS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B672BC8-D7EC-066C-9025-5F29713D84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1788796"/>
            <a:ext cx="5667904" cy="4600574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i="0" dirty="0">
                <a:effectLst/>
              </a:rPr>
              <a:t>Memory loss </a:t>
            </a: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i="0" dirty="0">
                <a:effectLst/>
              </a:rPr>
              <a:t>Challenges in planning, solving problems &amp; </a:t>
            </a:r>
            <a:r>
              <a:rPr lang="de-DE" sz="1600" i="0" dirty="0" err="1">
                <a:effectLst/>
              </a:rPr>
              <a:t>completing</a:t>
            </a:r>
            <a:r>
              <a:rPr lang="de-DE" sz="1600" i="0" dirty="0">
                <a:effectLst/>
              </a:rPr>
              <a:t> </a:t>
            </a:r>
            <a:r>
              <a:rPr lang="de-DE" sz="1600" i="0" dirty="0" err="1">
                <a:effectLst/>
              </a:rPr>
              <a:t>tasks</a:t>
            </a:r>
            <a:endParaRPr lang="de-DE" sz="1600" i="0" dirty="0"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i="0" dirty="0">
                <a:effectLst/>
              </a:rPr>
              <a:t>Confusion with time or place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i="0" dirty="0">
                <a:effectLst/>
              </a:rPr>
              <a:t>Trouble understanding images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i="0" dirty="0">
                <a:effectLst/>
              </a:rPr>
              <a:t>Misplacing things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L</a:t>
            </a:r>
            <a:r>
              <a:rPr lang="en-US" sz="1600" i="0" dirty="0">
                <a:effectLst/>
              </a:rPr>
              <a:t>osing the ability to retrace steps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i="0" dirty="0" err="1">
                <a:effectLst/>
              </a:rPr>
              <a:t>Decreased</a:t>
            </a:r>
            <a:r>
              <a:rPr lang="de-DE" sz="1600" i="0" dirty="0">
                <a:effectLst/>
              </a:rPr>
              <a:t> </a:t>
            </a:r>
            <a:r>
              <a:rPr lang="de-DE" sz="1600" i="0" dirty="0" err="1">
                <a:effectLst/>
              </a:rPr>
              <a:t>judgment</a:t>
            </a:r>
            <a:endParaRPr lang="de-DE" sz="1600" i="0" dirty="0"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i="0" dirty="0">
                <a:effectLst/>
              </a:rPr>
              <a:t>Withdrawal from work or social activities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</a:t>
            </a:r>
            <a:r>
              <a:rPr lang="en-US" sz="1600" i="0" dirty="0">
                <a:effectLst/>
              </a:rPr>
              <a:t>ersonality &amp; behavioral changes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b="1" i="0" dirty="0">
              <a:solidFill>
                <a:srgbClr val="4A0D66"/>
              </a:solidFill>
              <a:effectLst/>
              <a:latin typeface="HouschkaAltPr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i="0" dirty="0">
              <a:solidFill>
                <a:srgbClr val="4A0D66"/>
              </a:solidFill>
              <a:effectLst/>
              <a:latin typeface="HouschkaAltPr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i="0" dirty="0">
              <a:solidFill>
                <a:srgbClr val="4A0D66"/>
              </a:solidFill>
              <a:effectLst/>
              <a:latin typeface="HouschkaAltPro"/>
            </a:endParaRP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de-DE" dirty="0"/>
          </a:p>
        </p:txBody>
      </p:sp>
      <p:pic>
        <p:nvPicPr>
          <p:cNvPr id="18" name="Bildplatzhalter 17">
            <a:extLst>
              <a:ext uri="{FF2B5EF4-FFF2-40B4-BE49-F238E27FC236}">
                <a16:creationId xmlns:a16="http://schemas.microsoft.com/office/drawing/2014/main" id="{56C1A47C-0B1E-5AB5-A1B6-50D1352A016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20370" r="20370"/>
          <a:stretch>
            <a:fillRect/>
          </a:stretch>
        </p:blipFill>
        <p:spPr>
          <a:xfrm>
            <a:off x="-472440" y="0"/>
            <a:ext cx="6096000" cy="6858000"/>
          </a:xfrm>
        </p:spPr>
      </p:pic>
    </p:spTree>
    <p:extLst>
      <p:ext uri="{BB962C8B-B14F-4D97-AF65-F5344CB8AC3E}">
        <p14:creationId xmlns:p14="http://schemas.microsoft.com/office/powerpoint/2010/main" val="56176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sz="3200" dirty="0" err="1"/>
              <a:t>Resulting</a:t>
            </a:r>
            <a:r>
              <a:rPr lang="de-DE" sz="3200" dirty="0"/>
              <a:t> Problems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7476068" cy="4155757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D</a:t>
            </a:r>
            <a:r>
              <a:rPr lang="en-US" sz="1800" b="1" cap="none" dirty="0"/>
              <a:t>ifficulties in pursuing hobbies </a:t>
            </a:r>
            <a:endParaRPr lang="en-US" sz="1800" b="1" dirty="0"/>
          </a:p>
          <a:p>
            <a:pPr lvl="1"/>
            <a:r>
              <a:rPr lang="en-US" sz="1600" cap="none" dirty="0"/>
              <a:t>worsens quality of life and mental health</a:t>
            </a:r>
          </a:p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800" b="1" cap="none" dirty="0"/>
              <a:t>Health </a:t>
            </a:r>
            <a:r>
              <a:rPr lang="de-DE" sz="1800" b="1" dirty="0" err="1"/>
              <a:t>i</a:t>
            </a:r>
            <a:r>
              <a:rPr lang="de-DE" sz="1800" b="1" cap="none" dirty="0" err="1"/>
              <a:t>ssues</a:t>
            </a:r>
            <a:r>
              <a:rPr lang="de-DE" sz="1800" b="1" cap="none" dirty="0"/>
              <a:t> </a:t>
            </a:r>
            <a:endParaRPr lang="de-DE" sz="1800" b="1" dirty="0"/>
          </a:p>
          <a:p>
            <a:pPr lvl="1"/>
            <a:r>
              <a:rPr lang="de-DE" sz="1600" cap="none" dirty="0" err="1"/>
              <a:t>less</a:t>
            </a:r>
            <a:r>
              <a:rPr lang="de-DE" sz="1600" cap="none" dirty="0"/>
              <a:t> </a:t>
            </a:r>
            <a:r>
              <a:rPr lang="de-DE" sz="1600" cap="none" dirty="0" err="1"/>
              <a:t>exercise</a:t>
            </a:r>
            <a:r>
              <a:rPr lang="de-DE" sz="1600" cap="none" dirty="0"/>
              <a:t> and </a:t>
            </a:r>
            <a:r>
              <a:rPr lang="de-DE" sz="1600" cap="none" dirty="0" err="1"/>
              <a:t>healthy</a:t>
            </a:r>
            <a:r>
              <a:rPr lang="de-DE" sz="1600" cap="none" dirty="0"/>
              <a:t> </a:t>
            </a:r>
            <a:r>
              <a:rPr lang="de-DE" sz="1600" cap="none" dirty="0" err="1"/>
              <a:t>diet</a:t>
            </a:r>
            <a:endParaRPr lang="de-DE" sz="1600" cap="none" dirty="0"/>
          </a:p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800" b="1" dirty="0"/>
              <a:t>L</a:t>
            </a:r>
            <a:r>
              <a:rPr lang="de-DE" sz="1800" b="1" cap="none" dirty="0"/>
              <a:t>ow </a:t>
            </a:r>
            <a:r>
              <a:rPr lang="de-DE" sz="1800" b="1" cap="none" dirty="0" err="1"/>
              <a:t>confidence</a:t>
            </a:r>
            <a:endParaRPr lang="de-DE" sz="1800" b="1" cap="none" dirty="0"/>
          </a:p>
          <a:p>
            <a:pPr lvl="1"/>
            <a:r>
              <a:rPr lang="en-US" sz="1600" cap="none" dirty="0"/>
              <a:t>less trust in themselves</a:t>
            </a:r>
            <a:endParaRPr lang="de-DE" sz="1800" b="1" cap="none" dirty="0"/>
          </a:p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D</a:t>
            </a:r>
            <a:r>
              <a:rPr lang="en-US" sz="1800" b="1" cap="none" dirty="0"/>
              <a:t>enying the illness &amp; repressing it</a:t>
            </a:r>
          </a:p>
          <a:p>
            <a:pPr lvl="1"/>
            <a:r>
              <a:rPr lang="en-US" sz="1600" cap="none" dirty="0"/>
              <a:t>less open to insight and help</a:t>
            </a:r>
            <a:endParaRPr lang="de-DE" sz="1600" cap="none" dirty="0"/>
          </a:p>
          <a:p>
            <a:pPr lvl="1"/>
            <a:endParaRPr lang="en-US" sz="1600" dirty="0"/>
          </a:p>
          <a:p>
            <a:pPr marL="457200" lvl="1" indent="0">
              <a:buNone/>
            </a:pPr>
            <a:endParaRPr lang="en-US" sz="1600" cap="none" dirty="0"/>
          </a:p>
          <a:p>
            <a:pPr marL="457200" lvl="1" indent="0">
              <a:buNone/>
            </a:pPr>
            <a:endParaRPr lang="en-US" sz="1600" cap="non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1" cy="1629601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Interview Questions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5DADF2-8E4D-6C0E-0FA2-C5228AF29C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1778410"/>
            <a:ext cx="9570721" cy="4325210"/>
          </a:xfrm>
        </p:spPr>
        <p:txBody>
          <a:bodyPr rtlCol="0">
            <a:noAutofit/>
          </a:bodyPr>
          <a:lstStyle>
            <a:defPPr>
              <a:defRPr lang="de-DE"/>
            </a:defPPr>
          </a:lstStyle>
          <a:p>
            <a:pPr rtl="0">
              <a:lnSpc>
                <a:spcPct val="70000"/>
              </a:lnSpc>
            </a:pPr>
            <a:r>
              <a:rPr lang="en-US" sz="1800" b="1" noProof="1"/>
              <a:t>General</a:t>
            </a:r>
          </a:p>
          <a:p>
            <a:pPr lvl="1">
              <a:lnSpc>
                <a:spcPct val="70000"/>
              </a:lnSpc>
            </a:pPr>
            <a:r>
              <a:rPr lang="en-US" sz="1600" noProof="1"/>
              <a:t>How do you live?</a:t>
            </a:r>
          </a:p>
          <a:p>
            <a:pPr lvl="1">
              <a:lnSpc>
                <a:spcPct val="70000"/>
              </a:lnSpc>
            </a:pPr>
            <a:r>
              <a:rPr lang="en-US" sz="1600" noProof="1"/>
              <a:t>What do you think would help you to live more independently / happily?</a:t>
            </a:r>
          </a:p>
          <a:p>
            <a:pPr lvl="1">
              <a:lnSpc>
                <a:spcPct val="70000"/>
              </a:lnSpc>
            </a:pPr>
            <a:r>
              <a:rPr lang="en-US" sz="1600" noProof="1"/>
              <a:t>What help/devices/tools do you already use?</a:t>
            </a:r>
          </a:p>
          <a:p>
            <a:pPr lvl="1">
              <a:lnSpc>
                <a:spcPct val="70000"/>
              </a:lnSpc>
            </a:pPr>
            <a:r>
              <a:rPr lang="en-US" sz="1600" noProof="1"/>
              <a:t>(How) do your relatives/friends etc. help you?</a:t>
            </a:r>
          </a:p>
          <a:p>
            <a:pPr rtl="0">
              <a:lnSpc>
                <a:spcPct val="70000"/>
              </a:lnSpc>
            </a:pPr>
            <a:r>
              <a:rPr lang="en-US" sz="1800" b="1" noProof="1"/>
              <a:t>Symptoms</a:t>
            </a:r>
          </a:p>
          <a:p>
            <a:pPr lvl="1">
              <a:lnSpc>
                <a:spcPct val="70000"/>
              </a:lnSpc>
            </a:pPr>
            <a:r>
              <a:rPr lang="en-US" sz="1600" noProof="1"/>
              <a:t>What problems are you struggling with most in daily life?</a:t>
            </a:r>
          </a:p>
          <a:p>
            <a:pPr lvl="1">
              <a:lnSpc>
                <a:spcPct val="70000"/>
              </a:lnSpc>
            </a:pPr>
            <a:r>
              <a:rPr lang="en-US" sz="1600" noProof="1"/>
              <a:t>Which senses do you have problems with, which ones work well?</a:t>
            </a:r>
          </a:p>
          <a:p>
            <a:pPr rtl="0">
              <a:lnSpc>
                <a:spcPct val="70000"/>
              </a:lnSpc>
            </a:pPr>
            <a:r>
              <a:rPr lang="en-US" sz="1800" b="1" noProof="1"/>
              <a:t>Preferences</a:t>
            </a:r>
          </a:p>
          <a:p>
            <a:pPr lvl="1">
              <a:lnSpc>
                <a:spcPct val="70000"/>
              </a:lnSpc>
            </a:pPr>
            <a:r>
              <a:rPr lang="en-US" sz="1600" noProof="1"/>
              <a:t>What things do you enjoy? (Hobbies, friends, family, travelling?)</a:t>
            </a:r>
          </a:p>
          <a:p>
            <a:pPr lvl="1">
              <a:lnSpc>
                <a:spcPct val="70000"/>
              </a:lnSpc>
            </a:pPr>
            <a:r>
              <a:rPr lang="en-US" sz="1600" noProof="1"/>
              <a:t>To what extent should the device be playful?</a:t>
            </a:r>
          </a:p>
          <a:p>
            <a:pPr lvl="1">
              <a:lnSpc>
                <a:spcPct val="70000"/>
              </a:lnSpc>
            </a:pPr>
            <a:r>
              <a:rPr lang="en-US" sz="1600" noProof="1"/>
              <a:t>Which technologies do you like to use/use often? (Phone, tablet, buttons, screen, sound, vibration)</a:t>
            </a:r>
            <a:endParaRPr lang="de-DE" sz="1600" noProof="1"/>
          </a:p>
          <a:p>
            <a:pPr lvl="1"/>
            <a:endParaRPr lang="en-US" sz="1200" noProof="1"/>
          </a:p>
          <a:p>
            <a:pPr rtl="0"/>
            <a:endParaRPr lang="en-US" sz="1200" noProof="1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BDB0AE-5ADD-1975-6BDD-38608925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439401" cy="1617017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The interview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01C2F4A-ABC8-39B2-B7BB-36C02B7A454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398" y="1982142"/>
            <a:ext cx="6751489" cy="374718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D27E5DB-AFB6-9088-87C9-1F671C0B0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FEAA13-E02F-EB47-E510-E3F48A95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385" y="446313"/>
            <a:ext cx="5179615" cy="1448747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OUR IDEAS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E26637-007F-EC9E-F644-AAFBA0900F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1895060"/>
            <a:ext cx="5162551" cy="3747180"/>
          </a:xfrm>
        </p:spPr>
        <p:txBody>
          <a:bodyPr rtlCol="0">
            <a:normAutofit fontScale="92500" lnSpcReduction="10000"/>
          </a:bodyPr>
          <a:lstStyle>
            <a:defPPr>
              <a:defRPr lang="de-DE"/>
            </a:defPPr>
          </a:lstStyle>
          <a:p>
            <a:pPr marL="0" indent="0" rtl="0">
              <a:buNone/>
            </a:pPr>
            <a:r>
              <a:rPr lang="de-DE" b="1" dirty="0"/>
              <a:t>GOAL </a:t>
            </a:r>
          </a:p>
          <a:p>
            <a:pPr marL="0" indent="0" rtl="0">
              <a:buNone/>
            </a:pPr>
            <a:r>
              <a:rPr lang="de-DE" dirty="0" err="1"/>
              <a:t>Helping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people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fun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giving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opportunity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pursue</a:t>
            </a:r>
            <a:r>
              <a:rPr lang="de-DE" dirty="0"/>
              <a:t> </a:t>
            </a:r>
            <a:r>
              <a:rPr lang="de-DE" dirty="0" err="1"/>
              <a:t>their</a:t>
            </a:r>
            <a:r>
              <a:rPr lang="de-DE" dirty="0"/>
              <a:t> </a:t>
            </a:r>
            <a:r>
              <a:rPr lang="de-DE" dirty="0" err="1"/>
              <a:t>hobbys</a:t>
            </a:r>
            <a:r>
              <a:rPr lang="de-DE" dirty="0"/>
              <a:t> </a:t>
            </a:r>
          </a:p>
          <a:p>
            <a:pPr marL="0" indent="0" rtl="0">
              <a:buNone/>
            </a:pPr>
            <a:r>
              <a:rPr lang="de-DE" dirty="0">
                <a:sym typeface="Wingdings" panose="05000000000000000000" pitchFamily="2" charset="2"/>
              </a:rPr>
              <a:t> More </a:t>
            </a:r>
            <a:r>
              <a:rPr lang="de-DE" dirty="0" err="1">
                <a:sym typeface="Wingdings" panose="05000000000000000000" pitchFamily="2" charset="2"/>
              </a:rPr>
              <a:t>independence</a:t>
            </a:r>
            <a:r>
              <a:rPr lang="de-DE" dirty="0">
                <a:sym typeface="Wingdings" panose="05000000000000000000" pitchFamily="2" charset="2"/>
              </a:rPr>
              <a:t>, </a:t>
            </a:r>
            <a:r>
              <a:rPr lang="de-DE" dirty="0" err="1">
                <a:sym typeface="Wingdings" panose="05000000000000000000" pitchFamily="2" charset="2"/>
              </a:rPr>
              <a:t>less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help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from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family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members</a:t>
            </a:r>
            <a:r>
              <a:rPr lang="de-DE" dirty="0">
                <a:sym typeface="Wingdings" panose="05000000000000000000" pitchFamily="2" charset="2"/>
              </a:rPr>
              <a:t> / </a:t>
            </a:r>
            <a:r>
              <a:rPr lang="de-DE" dirty="0" err="1">
                <a:sym typeface="Wingdings" panose="05000000000000000000" pitchFamily="2" charset="2"/>
              </a:rPr>
              <a:t>friends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necessary</a:t>
            </a:r>
            <a:endParaRPr lang="de-DE" dirty="0"/>
          </a:p>
          <a:p>
            <a:pPr rtl="0"/>
            <a:endParaRPr lang="de-DE" dirty="0"/>
          </a:p>
          <a:p>
            <a:pPr marL="0" indent="0" rtl="0">
              <a:buNone/>
            </a:pPr>
            <a:r>
              <a:rPr lang="de-DE" b="1" dirty="0"/>
              <a:t>IDEAS</a:t>
            </a:r>
          </a:p>
          <a:p>
            <a:r>
              <a:rPr lang="de-DE" dirty="0"/>
              <a:t>Cooking Helper</a:t>
            </a:r>
          </a:p>
          <a:p>
            <a:r>
              <a:rPr lang="de-DE" dirty="0" err="1"/>
              <a:t>Playful</a:t>
            </a:r>
            <a:r>
              <a:rPr lang="de-DE" dirty="0"/>
              <a:t> </a:t>
            </a:r>
            <a:r>
              <a:rPr lang="de-DE" dirty="0" err="1"/>
              <a:t>reminder</a:t>
            </a:r>
            <a:endParaRPr lang="de-DE" dirty="0"/>
          </a:p>
          <a:p>
            <a:r>
              <a:rPr lang="de-DE" dirty="0"/>
              <a:t>Slim „Fitness“ </a:t>
            </a:r>
            <a:r>
              <a:rPr lang="de-DE" dirty="0" err="1"/>
              <a:t>bracelet</a:t>
            </a:r>
            <a:r>
              <a:rPr lang="de-DE" dirty="0"/>
              <a:t> </a:t>
            </a:r>
            <a:r>
              <a:rPr lang="en-US" dirty="0"/>
              <a:t>that can also be worn while sleeping/showering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DDD930B-FB1B-543D-6828-8C31F30BB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7</a:t>
            </a:fld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77A0C5-3ADC-6EB0-20C4-785F8B11B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EDD42B2-2891-60D3-5E27-767DB8442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8EF78D6-4F0F-A9EA-F4D8-5D46E135E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Bildplatzhalter 11">
            <a:extLst>
              <a:ext uri="{FF2B5EF4-FFF2-40B4-BE49-F238E27FC236}">
                <a16:creationId xmlns:a16="http://schemas.microsoft.com/office/drawing/2014/main" id="{73EC2252-F25F-0F21-6B9D-B6D5A018171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20333" r="2033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17447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B2FE8F7-2BB7-87CE-8BFF-0631BD293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719616-825F-003A-7275-08B08842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385" y="446313"/>
            <a:ext cx="5179615" cy="1448747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Sources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2F7961-2996-75AD-1688-21DCC6AD8C6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37490"/>
            <a:ext cx="5162551" cy="3747180"/>
          </a:xfrm>
        </p:spPr>
        <p:txBody>
          <a:bodyPr rtlCol="0">
            <a:normAutofit fontScale="77500" lnSpcReduction="20000"/>
          </a:bodyPr>
          <a:lstStyle>
            <a:defPPr>
              <a:defRPr lang="de-DE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hlinkClick r:id="rId3"/>
              </a:rPr>
              <a:t>https://www.alz.org/alzheimers-dementia/10_signs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hlinkClick r:id="rId4"/>
              </a:rPr>
              <a:t>https://www.alz.org/alzheimers-dementia/stages</a:t>
            </a:r>
            <a:r>
              <a:rPr lang="de-DE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0" indent="0">
              <a:buNone/>
            </a:pPr>
            <a:r>
              <a:rPr lang="de-DE" sz="2200" dirty="0"/>
              <a:t>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hlinkClick r:id="rId5"/>
              </a:rPr>
              <a:t>https://salmonhealth.com/dementia-signs-behaviors-seniors/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hlinkClick r:id="rId6"/>
              </a:rPr>
              <a:t>https://cbassociatetraining.co.uk/what-is-dementia-care/</a:t>
            </a:r>
            <a:r>
              <a:rPr lang="de-DE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hlinkClick r:id="rId7"/>
              </a:rPr>
              <a:t>https://news.flinders.edu.au/blog/2020/10/16/home-based-care-for-people-living-with-dementia/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hlinkClick r:id="rId8"/>
              </a:rPr>
              <a:t>https://www.doctorsofbc.ca/prevention-health-promotion/improving-lives-people-dementia</a:t>
            </a:r>
            <a:r>
              <a:rPr lang="de-DE" dirty="0"/>
              <a:t>  </a:t>
            </a:r>
          </a:p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CEBCF4-8F2A-466F-E3F7-D96B6C992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8</a:t>
            </a:fld>
            <a:endParaRPr lang="de-DE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642E5460-FB8B-8877-5BD4-21B2DAC79F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4178185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A5D9142-489C-4E44-ADCC-5E15CE9B3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2CB8D64-7059-174A-E6B2-CE2A78906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de-DE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CEABB6-07DC-46E8-9B57-56EC44A396E5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/>
              <a:ea typeface="+mn-ea"/>
              <a:cs typeface="+mn-cs"/>
            </a:endParaRPr>
          </a:p>
        </p:txBody>
      </p:sp>
      <p:sp>
        <p:nvSpPr>
          <p:cNvPr id="8" name="Titel 6">
            <a:extLst>
              <a:ext uri="{FF2B5EF4-FFF2-40B4-BE49-F238E27FC236}">
                <a16:creationId xmlns:a16="http://schemas.microsoft.com/office/drawing/2014/main" id="{627E2DE7-586C-D00F-C443-49FFA6BFB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7448" y="1616508"/>
            <a:ext cx="5057104" cy="3624984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sz="4400" dirty="0">
                <a:solidFill>
                  <a:schemeClr val="tx1"/>
                </a:solidFill>
              </a:rPr>
              <a:t>THANKS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51256160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310_TF22318419_Win32" id="{C749F05C-A5EF-495F-B259-903DDCF7041F}" vid="{DABB12BF-E318-4EB1-BC0E-40AA0F2FD2E3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0</TotalTime>
  <Words>446</Words>
  <Application>Microsoft Office PowerPoint</Application>
  <PresentationFormat>Breitbild</PresentationFormat>
  <Paragraphs>86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5" baseType="lpstr">
      <vt:lpstr>Arial</vt:lpstr>
      <vt:lpstr>Calibri</vt:lpstr>
      <vt:lpstr>HouschkaAltPro</vt:lpstr>
      <vt:lpstr>Tenorite</vt:lpstr>
      <vt:lpstr>Wingdings</vt:lpstr>
      <vt:lpstr>Benutzerdefiniert</vt:lpstr>
      <vt:lpstr>USER RESEARCH </vt:lpstr>
      <vt:lpstr>What is Dementia &amp; ALZHEIMER‘S?</vt:lpstr>
      <vt:lpstr>SYMPTOMS</vt:lpstr>
      <vt:lpstr>Resulting Problems </vt:lpstr>
      <vt:lpstr>Interview Questions</vt:lpstr>
      <vt:lpstr>The interview</vt:lpstr>
      <vt:lpstr>OUR IDEAS</vt:lpstr>
      <vt:lpstr>Sources</vt:lpstr>
      <vt:lpstr>THANKS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 Dr. Jakob</dc:creator>
  <cp:lastModifiedBy>Anton Dr. Jakob</cp:lastModifiedBy>
  <cp:revision>17</cp:revision>
  <dcterms:created xsi:type="dcterms:W3CDTF">2024-10-12T15:01:25Z</dcterms:created>
  <dcterms:modified xsi:type="dcterms:W3CDTF">2024-10-14T19:20:51Z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