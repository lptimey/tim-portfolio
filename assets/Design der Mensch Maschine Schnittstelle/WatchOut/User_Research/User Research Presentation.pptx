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2" r:id="rId4"/>
    <p:sldId id="263" r:id="rId5"/>
    <p:sldId id="257" r:id="rId6"/>
    <p:sldId id="258" r:id="rId7"/>
    <p:sldId id="259" r:id="rId8"/>
    <p:sldId id="260" r:id="rId9"/>
    <p:sldId id="261" r:id="rId10"/>
    <p:sldId id="265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Breakdown</a:t>
            </a:r>
            <a:r>
              <a:rPr lang="en-US" baseline="0" dirty="0">
                <a:latin typeface="Aharoni" panose="02010803020104030203" pitchFamily="2" charset="-79"/>
                <a:cs typeface="Aharoni" panose="02010803020104030203" pitchFamily="2" charset="-79"/>
              </a:rPr>
              <a:t> of dementia by disease type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c:rich>
      </c:tx>
      <c:layout>
        <c:manualLayout>
          <c:xMode val="edge"/>
          <c:yMode val="edge"/>
          <c:x val="0.21483587598425197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1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9C50-438E-B939-3C7E62B7437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F5C-4E1E-8261-F99A90397EE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F5C-4E1E-8261-F99A90397EE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F5C-4E1E-8261-F99A90397EE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F5C-4E1E-8261-F99A90397EE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4F5C-4E1E-8261-F99A90397EED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4F5C-4E1E-8261-F99A90397EED}"/>
              </c:ext>
            </c:extLst>
          </c:dPt>
          <c:cat>
            <c:strRef>
              <c:f>Sheet1!$A$2:$A$8</c:f>
              <c:strCache>
                <c:ptCount val="7"/>
                <c:pt idx="0">
                  <c:v>Alzheimer's Disease</c:v>
                </c:pt>
                <c:pt idx="1">
                  <c:v>Vascular Dementia</c:v>
                </c:pt>
                <c:pt idx="2">
                  <c:v>Mixed Dementia</c:v>
                </c:pt>
                <c:pt idx="3">
                  <c:v>Dementia with Lewy Bodies</c:v>
                </c:pt>
                <c:pt idx="4">
                  <c:v>Frontotemporal dementia</c:v>
                </c:pt>
                <c:pt idx="5">
                  <c:v>Parkinson's dementia</c:v>
                </c:pt>
                <c:pt idx="6">
                  <c:v>Other 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60</c:v>
                </c:pt>
                <c:pt idx="1">
                  <c:v>15</c:v>
                </c:pt>
                <c:pt idx="2">
                  <c:v>10</c:v>
                </c:pt>
                <c:pt idx="3">
                  <c:v>10</c:v>
                </c:pt>
                <c:pt idx="4">
                  <c:v>2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50-438E-B939-3C7E62B743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0" i="0" u="none" strike="noStrike" kern="1200" baseline="0">
              <a:solidFill>
                <a:schemeClr val="tx1"/>
              </a:solidFill>
              <a:latin typeface="Aptos Narrow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86BD3-9D29-2270-F1A9-264EB0EA2F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193136-CA5D-4D5E-15A3-290F6A79F0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41D5E-C8DF-A1EB-AB1C-78D258A59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527B-4FE0-4AB2-8103-6D762136EF5B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40360-4CE2-E11D-CBC0-2297B9015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60EBD-1DF9-40BE-DFCC-E3B447BF8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0431-54D7-4092-8FF9-FE3BA2AB8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564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806D4-F37E-31A4-FA47-8514744E6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26CE3-65FF-110F-963B-092C3FECA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574B1-FD5D-C231-FB28-1C7EE51DC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527B-4FE0-4AB2-8103-6D762136EF5B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7391C-B3AE-5E03-65B4-FC4D59B2C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BCCE2-8B12-29B1-944A-9573EA22B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0431-54D7-4092-8FF9-FE3BA2AB8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68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249CF-17DC-F764-AA28-B634255A4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44DA0-3A4D-084C-C7DA-3DA7C9A65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3DDD3-16DD-87BA-D712-033640B13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527B-4FE0-4AB2-8103-6D762136EF5B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F6A43-65E5-8518-3EB5-615E6B9A8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1C3ED-5297-DBB1-45D0-13DEDC2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0431-54D7-4092-8FF9-FE3BA2AB8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93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AA66D-762F-2A69-6C34-37C3B38F2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F19AA-DF96-EFFA-5946-717E5651D6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D74BE3-42B7-FCAE-C755-4D3BD458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7DE3B3-A965-F587-67C0-4E4AFBF03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527B-4FE0-4AB2-8103-6D762136EF5B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5FE71B-9FA2-0C32-756C-F225B66AC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E78E39-F6B0-C1EB-7E50-09B03CA36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0431-54D7-4092-8FF9-FE3BA2AB8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955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48C08-595B-1AC7-9F9D-5ECD9AB1F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0F993-4B32-21FF-0F7D-AB6CE4D97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6ED6F8-0D17-6147-4C51-2FA76BAECB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09506C-947E-DF37-AF12-EB42DE602B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A0013A-F568-9214-132B-0CBD74768F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A9C380-EE4C-2A5A-1267-5E5F59071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527B-4FE0-4AB2-8103-6D762136EF5B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24A999-31A9-4653-AD00-97B21A76D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790F59-2D94-8210-9AF3-B36342A32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0431-54D7-4092-8FF9-FE3BA2AB8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480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C8D4D-5FB5-D8C7-BC3D-514ACEDA7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E8F3B0-41F0-09FF-410D-9C7EBE97E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527B-4FE0-4AB2-8103-6D762136EF5B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6CE2A-8411-9222-DF0A-293CF8C7B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20EE73-ED4F-95DB-2487-AF2AEA315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0431-54D7-4092-8FF9-FE3BA2AB8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11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D23A99-D495-7764-83BE-069AA1D49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527B-4FE0-4AB2-8103-6D762136EF5B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BC4C56-A16F-6F0E-B7B8-342F4B1A3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D56C8-2CED-A431-1B3F-D5915BC56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0431-54D7-4092-8FF9-FE3BA2AB8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50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E2983-0823-9452-172A-AAAB8A877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D1C91-8D93-E708-FF11-0D1487482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AF227D-79BB-FAAC-2DE1-478949B006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B48FC2-34A3-B646-976C-82A48E486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527B-4FE0-4AB2-8103-6D762136EF5B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8F9DEA-9583-1038-465C-D69B4E430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37A40D-5E6A-A668-2853-9704E7690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0431-54D7-4092-8FF9-FE3BA2AB8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648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C9935-6E5F-0396-0E0D-FE7012B95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D28D0D-8BA2-BC8D-D01D-A912058A23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00CB23-F771-4074-8521-07C652A10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027B8-B9F5-5BEB-2949-FA2FE9EF0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527B-4FE0-4AB2-8103-6D762136EF5B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9536E-72D4-B947-A841-C082B7D20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7D47E-CC51-0B87-6952-C1A64917A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0431-54D7-4092-8FF9-FE3BA2AB8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662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99078-6972-94F2-715B-9A247F053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9A4A7-F8F1-73CC-36CE-DBD9FF7A34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7F962-4FEA-C3C9-5A6A-38D75020A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527B-4FE0-4AB2-8103-6D762136EF5B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05EBB-1950-CF49-5F9C-F251AF9CF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A2372-7C55-30A5-EECE-698A7BF3A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0431-54D7-4092-8FF9-FE3BA2AB8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60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98F3A0-E727-CCE8-2329-CDF0F47C7E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E8EE8-3823-FA7A-6569-2D437A7F9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499C5-20F2-D119-55E6-2A92F8C42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B527B-4FE0-4AB2-8103-6D762136EF5B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E349D-AA24-927A-C5E7-B16253B0F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EB28A-2FC3-39FF-0426-48E6D18D6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0431-54D7-4092-8FF9-FE3BA2AB8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96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2CA653-608C-9E26-DCB7-9BCD8F3E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7C5CA-E4FA-A444-00B2-6B3C5008E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E6BB9-5A07-317C-BFEA-CF8944525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0B527B-4FE0-4AB2-8103-6D762136EF5B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8CB65-3BB6-97BF-4924-E6EA794ACA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142B4-DC00-A815-095D-F3D972EE1A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50431-54D7-4092-8FF9-FE3BA2AB8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850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z.org/alzheimers-dementia/10_signs" TargetMode="External"/><Relationship Id="rId2" Type="http://schemas.openxmlformats.org/officeDocument/2006/relationships/hyperlink" Target="https://dementiastatistics.org/about-dementia/subtype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alz.org/alzheimers-dementia/stag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5F243-5888-675A-B75E-139BCC781B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User Research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77080-A63C-F58F-E31A-B519D243FB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ptos Narrow" panose="020B0004020202020204" pitchFamily="34" charset="0"/>
              </a:rPr>
              <a:t>Supporting People With Dementia</a:t>
            </a:r>
          </a:p>
        </p:txBody>
      </p:sp>
    </p:spTree>
    <p:extLst>
      <p:ext uri="{BB962C8B-B14F-4D97-AF65-F5344CB8AC3E}">
        <p14:creationId xmlns:p14="http://schemas.microsoft.com/office/powerpoint/2010/main" val="1497884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8B857-F312-1BF4-D263-B5C1C2F6F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What did we do for our research?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48BAE-E4CF-88AD-597D-7C60198A5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ptos Narrow" panose="020B0004020202020204" pitchFamily="34" charset="0"/>
              </a:rPr>
              <a:t>Information from the internet (Studies, Data, etc.) </a:t>
            </a:r>
          </a:p>
          <a:p>
            <a:r>
              <a:rPr lang="en-US" dirty="0">
                <a:latin typeface="Aptos Narrow" panose="020B0004020202020204" pitchFamily="34" charset="0"/>
              </a:rPr>
              <a:t>Read papers about dementia </a:t>
            </a:r>
          </a:p>
          <a:p>
            <a:r>
              <a:rPr lang="en-US" dirty="0">
                <a:latin typeface="Aptos Narrow" panose="020B0004020202020204" pitchFamily="34" charset="0"/>
              </a:rPr>
              <a:t>Interview with a woman with Alzheimer’s</a:t>
            </a:r>
          </a:p>
        </p:txBody>
      </p:sp>
    </p:spTree>
    <p:extLst>
      <p:ext uri="{BB962C8B-B14F-4D97-AF65-F5344CB8AC3E}">
        <p14:creationId xmlns:p14="http://schemas.microsoft.com/office/powerpoint/2010/main" val="1864026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3A08C512-E619-44FA-4E68-7D39B95AA7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812414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61A0423-ADBB-35E3-00AC-F7FDF5D32DAB}"/>
              </a:ext>
            </a:extLst>
          </p:cNvPr>
          <p:cNvSpPr txBox="1"/>
          <p:nvPr/>
        </p:nvSpPr>
        <p:spPr>
          <a:xfrm>
            <a:off x="9662160" y="6581001"/>
            <a:ext cx="3535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Data from Alzheimer’s Research UK </a:t>
            </a:r>
          </a:p>
        </p:txBody>
      </p:sp>
    </p:spTree>
    <p:extLst>
      <p:ext uri="{BB962C8B-B14F-4D97-AF65-F5344CB8AC3E}">
        <p14:creationId xmlns:p14="http://schemas.microsoft.com/office/powerpoint/2010/main" val="1031025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C6574-A8E1-3BE7-2F06-B77DCD9EB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Alzheimer’s Disease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E79CF-4177-5FAA-6890-74B37619D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Develops slowly over the years </a:t>
            </a:r>
          </a:p>
          <a:p>
            <a:r>
              <a:rPr lang="en-US" dirty="0"/>
              <a:t>Caused by death of brain cells </a:t>
            </a:r>
          </a:p>
          <a:p>
            <a:r>
              <a:rPr lang="en-US" dirty="0"/>
              <a:t>Symptoms vary (Depends on which part of the brain is affected)</a:t>
            </a:r>
          </a:p>
          <a:p>
            <a:r>
              <a:rPr lang="en-US" dirty="0"/>
              <a:t>Most common symptom: Memory loss</a:t>
            </a:r>
          </a:p>
          <a:p>
            <a:r>
              <a:rPr lang="en-US" dirty="0"/>
              <a:t>Early, Middle and Late Stage </a:t>
            </a:r>
          </a:p>
        </p:txBody>
      </p:sp>
    </p:spTree>
    <p:extLst>
      <p:ext uri="{BB962C8B-B14F-4D97-AF65-F5344CB8AC3E}">
        <p14:creationId xmlns:p14="http://schemas.microsoft.com/office/powerpoint/2010/main" val="2019248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4751B7-7AB0-1F4D-079B-06C5971B35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829856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B52195-359B-BC19-7D9B-0818261DA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62321" y="5532437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Interview with Margot</a:t>
            </a:r>
          </a:p>
        </p:txBody>
      </p:sp>
    </p:spTree>
    <p:extLst>
      <p:ext uri="{BB962C8B-B14F-4D97-AF65-F5344CB8AC3E}">
        <p14:creationId xmlns:p14="http://schemas.microsoft.com/office/powerpoint/2010/main" val="2495709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FF188-829A-F286-3241-102768B4B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What does here every day life look like?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6F5DA-16E3-C335-5506-8F725334C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ptos Narrow" panose="020B0004020202020204" pitchFamily="34" charset="0"/>
              </a:rPr>
              <a:t>Caregivers visit her in the morning and in the evening </a:t>
            </a:r>
          </a:p>
          <a:p>
            <a:r>
              <a:rPr lang="en-US" dirty="0">
                <a:latin typeface="Aptos Narrow" panose="020B0004020202020204" pitchFamily="34" charset="0"/>
              </a:rPr>
              <a:t>She helps at an elderly home </a:t>
            </a:r>
          </a:p>
          <a:p>
            <a:r>
              <a:rPr lang="en-US" dirty="0">
                <a:latin typeface="Aptos Narrow" panose="020B0004020202020204" pitchFamily="34" charset="0"/>
              </a:rPr>
              <a:t>She likes going out with friends and walking in the park </a:t>
            </a:r>
          </a:p>
          <a:p>
            <a:r>
              <a:rPr lang="en-US" dirty="0">
                <a:latin typeface="Aptos Narrow" panose="020B0004020202020204" pitchFamily="34" charset="0"/>
              </a:rPr>
              <a:t>Her son visits her a few times per week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518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07403-66E1-906E-8C53-A8E4498A7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What problems does she encounter?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F5BA3-FD9D-88A7-867C-E97240B77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ptos Narrow" panose="020B0004020202020204" pitchFamily="34" charset="0"/>
              </a:rPr>
              <a:t>Having trouble recognizing the people, that surround her </a:t>
            </a:r>
          </a:p>
          <a:p>
            <a:r>
              <a:rPr lang="en-US" dirty="0">
                <a:latin typeface="Aptos Narrow" panose="020B0004020202020204" pitchFamily="34" charset="0"/>
              </a:rPr>
              <a:t>Not being able to accomplish step by step tasks </a:t>
            </a:r>
          </a:p>
          <a:p>
            <a:r>
              <a:rPr lang="en-US" dirty="0">
                <a:latin typeface="Aptos Narrow" panose="020B0004020202020204" pitchFamily="34" charset="0"/>
              </a:rPr>
              <a:t>Misplacing things (Keys, Bags, etc.)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814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EB07E-7705-2816-7882-1162DA556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What technology does she use?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48200-FFB8-15BE-6E1A-19AD80E5C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ptos Narrow" panose="020B0004020202020204" pitchFamily="34" charset="0"/>
              </a:rPr>
              <a:t>Mobile phone (no smartphone) </a:t>
            </a:r>
          </a:p>
          <a:p>
            <a:r>
              <a:rPr lang="en-US" dirty="0">
                <a:latin typeface="Aptos Narrow" panose="020B0004020202020204" pitchFamily="34" charset="0"/>
              </a:rPr>
              <a:t>Television </a:t>
            </a:r>
          </a:p>
          <a:p>
            <a:r>
              <a:rPr lang="en-US" dirty="0">
                <a:latin typeface="Aptos Narrow" panose="020B0004020202020204" pitchFamily="34" charset="0"/>
              </a:rPr>
              <a:t>Emergency button</a:t>
            </a:r>
          </a:p>
          <a:p>
            <a:r>
              <a:rPr lang="en-US" dirty="0">
                <a:latin typeface="Aptos Narrow" panose="020B0004020202020204" pitchFamily="34" charset="0"/>
              </a:rPr>
              <a:t>Air Tag 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308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37D45-3DBA-3A51-B9B3-B8F246A59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What does she need?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84D3B-F629-4690-9877-1D787BE56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ptos Narrow" panose="020B0004020202020204" pitchFamily="34" charset="0"/>
              </a:rPr>
              <a:t>Someone or something helping her remember every day tasks </a:t>
            </a:r>
          </a:p>
          <a:p>
            <a:r>
              <a:rPr lang="en-US" dirty="0">
                <a:latin typeface="Aptos Narrow" panose="020B0004020202020204" pitchFamily="34" charset="0"/>
              </a:rPr>
              <a:t>Observation</a:t>
            </a:r>
          </a:p>
          <a:p>
            <a:r>
              <a:rPr lang="en-US" dirty="0">
                <a:latin typeface="Aptos Narrow" panose="020B0004020202020204" pitchFamily="34" charset="0"/>
              </a:rPr>
              <a:t>Concise and recognizable design </a:t>
            </a:r>
          </a:p>
          <a:p>
            <a:r>
              <a:rPr lang="en-US" dirty="0">
                <a:latin typeface="Aptos Narrow" panose="020B0004020202020204" pitchFamily="34" charset="0"/>
              </a:rPr>
              <a:t>Design from her past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503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427F1-137E-84D5-D38C-179FC1CD6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Our first ideas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0CB7E-FBB6-218E-6CA1-266D69334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ptos Narrow" panose="020B0004020202020204" pitchFamily="34" charset="0"/>
              </a:rPr>
              <a:t>Help people with Alzheimer’s maintain their Quality of Life </a:t>
            </a:r>
          </a:p>
          <a:p>
            <a:r>
              <a:rPr lang="en-US" dirty="0">
                <a:latin typeface="Aptos Narrow" panose="020B0004020202020204" pitchFamily="34" charset="0"/>
              </a:rPr>
              <a:t>More independence from family members and caregivers </a:t>
            </a:r>
          </a:p>
          <a:p>
            <a:endParaRPr lang="en-US" dirty="0">
              <a:latin typeface="Aptos Narrow" panose="020B0004020202020204" pitchFamily="34" charset="0"/>
            </a:endParaRPr>
          </a:p>
          <a:p>
            <a:r>
              <a:rPr lang="en-US" dirty="0">
                <a:latin typeface="Aptos Narrow" panose="020B0004020202020204" pitchFamily="34" charset="0"/>
              </a:rPr>
              <a:t>Reminder (Audio User Interface)</a:t>
            </a:r>
          </a:p>
          <a:p>
            <a:r>
              <a:rPr lang="en-US" dirty="0">
                <a:latin typeface="Aptos Narrow" panose="020B0004020202020204" pitchFamily="34" charset="0"/>
              </a:rPr>
              <a:t>Always-on-bracelet with audio function</a:t>
            </a:r>
          </a:p>
          <a:p>
            <a:r>
              <a:rPr lang="en-US" dirty="0">
                <a:latin typeface="Aptos Narrow" panose="020B0004020202020204" pitchFamily="34" charset="0"/>
              </a:rPr>
              <a:t>Cooking helper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510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9BED6-70F0-E313-76DF-F2D162097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Sources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0C47D-F5A6-11AC-2929-23B2822BC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ptos Narrow" panose="020B0004020202020204" pitchFamily="34" charset="0"/>
                <a:hlinkClick r:id="rId2"/>
              </a:rPr>
              <a:t>https://dementiastatistics.org/about-dementia/subtypes/</a:t>
            </a:r>
            <a:endParaRPr lang="en-US" dirty="0">
              <a:latin typeface="Aptos Narrow" panose="020B0004020202020204" pitchFamily="34" charset="0"/>
            </a:endParaRPr>
          </a:p>
          <a:p>
            <a:r>
              <a:rPr lang="de-DE" dirty="0">
                <a:latin typeface="Aptos Narrow" panose="020B0004020202020204" pitchFamily="34" charset="0"/>
                <a:hlinkClick r:id="rId3"/>
              </a:rPr>
              <a:t>https://www.alz.org/alzheimers-dementia/10_signs</a:t>
            </a:r>
            <a:endParaRPr lang="de-DE" dirty="0">
              <a:latin typeface="Aptos Narrow" panose="020B0004020202020204" pitchFamily="34" charset="0"/>
            </a:endParaRPr>
          </a:p>
          <a:p>
            <a:r>
              <a:rPr lang="de-DE" dirty="0">
                <a:latin typeface="Aptos Narrow" panose="020B0004020202020204" pitchFamily="34" charset="0"/>
                <a:hlinkClick r:id="rId4"/>
              </a:rPr>
              <a:t>https://www.alz.org/alzheimers-dementia/stages</a:t>
            </a:r>
            <a:r>
              <a:rPr lang="de-DE" dirty="0">
                <a:latin typeface="Aptos Narrow" panose="020B0004020202020204" pitchFamily="34" charset="0"/>
              </a:rPr>
              <a:t> </a:t>
            </a:r>
            <a:endParaRPr lang="en-US" dirty="0">
              <a:latin typeface="Aptos Narrow" panose="020B00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708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Aharoni</vt:lpstr>
      <vt:lpstr>Aptos Narrow</vt:lpstr>
      <vt:lpstr>Arial</vt:lpstr>
      <vt:lpstr>Calibri</vt:lpstr>
      <vt:lpstr>Calibri Light</vt:lpstr>
      <vt:lpstr>Office Theme</vt:lpstr>
      <vt:lpstr>User Research</vt:lpstr>
      <vt:lpstr>What did we do for our research?</vt:lpstr>
      <vt:lpstr>PowerPoint Presentation</vt:lpstr>
      <vt:lpstr>Alzheimer’s Disease</vt:lpstr>
      <vt:lpstr>Interview with Margot</vt:lpstr>
      <vt:lpstr>What does here every day life look like?</vt:lpstr>
      <vt:lpstr>What problems does she encounter?</vt:lpstr>
      <vt:lpstr>What technology does she use?</vt:lpstr>
      <vt:lpstr>What does she need? </vt:lpstr>
      <vt:lpstr>Our first ideas </vt:lpstr>
      <vt:lpstr>Sources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Weber</dc:creator>
  <cp:lastModifiedBy>Nicolas Weber</cp:lastModifiedBy>
  <cp:revision>4</cp:revision>
  <dcterms:created xsi:type="dcterms:W3CDTF">2024-10-14T17:49:45Z</dcterms:created>
  <dcterms:modified xsi:type="dcterms:W3CDTF">2024-10-14T18:38:00Z</dcterms:modified>
</cp:coreProperties>
</file>