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315" r:id="rId5"/>
    <p:sldId id="330" r:id="rId6"/>
    <p:sldId id="317" r:id="rId7"/>
    <p:sldId id="318" r:id="rId8"/>
    <p:sldId id="320" r:id="rId9"/>
    <p:sldId id="321" r:id="rId10"/>
    <p:sldId id="322" r:id="rId11"/>
    <p:sldId id="331" r:id="rId12"/>
    <p:sldId id="332" r:id="rId13"/>
    <p:sldId id="333" r:id="rId14"/>
    <p:sldId id="328" r:id="rId15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5BD4FF"/>
    <a:srgbClr val="2C70AE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388" autoAdjust="0"/>
  </p:normalViewPr>
  <p:slideViewPr>
    <p:cSldViewPr snapToGrid="0">
      <p:cViewPr varScale="1">
        <p:scale>
          <a:sx n="80" d="100"/>
          <a:sy n="80" d="100"/>
        </p:scale>
        <p:origin x="48" y="86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  <a:latin typeface="+mj-lt"/>
                <a:cs typeface="Aharoni" panose="02010803020104030203" pitchFamily="2" charset="-79"/>
              </a:rPr>
              <a:t>Breakdown</a:t>
            </a:r>
            <a:r>
              <a:rPr lang="en-US" b="1" baseline="0" dirty="0">
                <a:solidFill>
                  <a:schemeClr val="tx1"/>
                </a:solidFill>
                <a:latin typeface="+mj-lt"/>
                <a:cs typeface="Aharoni" panose="02010803020104030203" pitchFamily="2" charset="-79"/>
              </a:rPr>
              <a:t> of dementia by disease type</a:t>
            </a:r>
            <a:endParaRPr lang="en-US" b="1" dirty="0">
              <a:solidFill>
                <a:schemeClr val="tx1"/>
              </a:solidFill>
              <a:latin typeface="+mj-lt"/>
              <a:cs typeface="Aharoni" panose="02010803020104030203" pitchFamily="2" charset="-79"/>
            </a:endParaRPr>
          </a:p>
        </c:rich>
      </c:tx>
      <c:layout>
        <c:manualLayout>
          <c:xMode val="edge"/>
          <c:yMode val="edge"/>
          <c:x val="0.2148358759842519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10"/>
          <c:dPt>
            <c:idx val="0"/>
            <c:bubble3D val="0"/>
            <c:spPr>
              <a:solidFill>
                <a:schemeClr val="tx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ED9-4A54-9268-0C541639FE6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ED9-4A54-9268-0C541639FE6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ED9-4A54-9268-0C541639FE6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ED9-4A54-9268-0C541639FE6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ED9-4A54-9268-0C541639FE6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ED9-4A54-9268-0C541639FE6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2ED9-4A54-9268-0C541639FE69}"/>
              </c:ext>
            </c:extLst>
          </c:dPt>
          <c:cat>
            <c:strRef>
              <c:f>Sheet1!$A$2:$A$8</c:f>
              <c:strCache>
                <c:ptCount val="7"/>
                <c:pt idx="0">
                  <c:v>Alzheimer's Disease</c:v>
                </c:pt>
                <c:pt idx="1">
                  <c:v>Vascular Dementia</c:v>
                </c:pt>
                <c:pt idx="2">
                  <c:v>Mixed Dementia</c:v>
                </c:pt>
                <c:pt idx="3">
                  <c:v>Dementia with Lewy Bodies</c:v>
                </c:pt>
                <c:pt idx="4">
                  <c:v>Frontotemporal dementia</c:v>
                </c:pt>
                <c:pt idx="5">
                  <c:v>Parkinson's dementia</c:v>
                </c:pt>
                <c:pt idx="6">
                  <c:v>Other 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</c:v>
                </c:pt>
                <c:pt idx="1">
                  <c:v>15</c:v>
                </c:pt>
                <c:pt idx="2">
                  <c:v>10</c:v>
                </c:pt>
                <c:pt idx="3">
                  <c:v>10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ED9-4A54-9268-0C541639FE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tx1"/>
              </a:solidFill>
              <a:latin typeface="Aptos Narrow" panose="020B0004020202020204" pitchFamily="34" charset="0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706DC2AA-3EE1-4710-B576-59ED6D0DAAB7}" type="datetime1">
              <a:rPr lang="de-DE" smtClean="0"/>
              <a:t>14.10.2024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4BF9A36D-7FAC-478F-9944-F324014F6FD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12A654F7-23CE-450C-96B0-AC7F00250D49}" type="datetime1">
              <a:rPr lang="de-DE" smtClean="0"/>
              <a:t>14.10.2024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D4B9A9E5-4F7F-4A7D-9DE1-89923232926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9E147-937E-7831-3D39-3F216748B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EB39CED-1798-50BB-F20F-3FB1A0CCA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8A98709-BC86-7B1F-1369-6965B54C1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275508-ACB0-724C-8043-7A0405B9D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0266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393AC-BE4E-F1A8-1B29-DBB07208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7BF048E-9F45-F09D-EF64-376D06DD9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B8E263D-C25B-0DBD-57CD-663BC0666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3C1540-5159-12A1-D492-21D3E922B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5351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26338-88FE-0759-C774-83087BA17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7E529CF-DF5E-9D54-0648-57BA1E286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798898D-877E-CDB2-3A30-BA86649C7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FE13AD-E3E1-22DD-4F72-0B39232A5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2971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D9FFD-B4DF-4356-3DB4-59188F48E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4B642D7-DE08-CDBB-EFBC-316919F8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69F2644-81C1-CAF4-224B-245A8710F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EB6718-44B9-0C84-C281-F38BE3359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0703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7A464-F665-5B10-FCF7-A7F3B001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23C3F7D-E945-E015-CCB5-8C8093DB1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ABBC91B-8A13-491A-148E-C556ECA50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E8C409-B2B6-DE88-F90D-074AE70DB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0121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pic>
        <p:nvPicPr>
          <p:cNvPr id="7" name="Grafik 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füh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 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fik 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de-DE" sz="2000"/>
            </a:lvl1pPr>
            <a:lvl2pPr>
              <a:lnSpc>
                <a:spcPct val="120000"/>
              </a:lnSpc>
              <a:defRPr lang="de-DE" sz="1800"/>
            </a:lvl2pPr>
            <a:lvl3pPr>
              <a:lnSpc>
                <a:spcPct val="120000"/>
              </a:lnSpc>
              <a:defRPr lang="de-DE" sz="1600"/>
            </a:lvl3pPr>
            <a:lvl4pPr>
              <a:lnSpc>
                <a:spcPct val="120000"/>
              </a:lnSpc>
              <a:defRPr lang="de-DE" sz="1400"/>
            </a:lvl4pPr>
            <a:lvl5pPr>
              <a:lnSpc>
                <a:spcPct val="120000"/>
              </a:lnSpc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 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de-DE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Bild durch Klicken auf ein Symbol einzufügen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de-DE" sz="48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de-DE" sz="2000"/>
            </a:lvl1pPr>
            <a:lvl2pPr marL="457200" indent="0">
              <a:buNone/>
              <a:defRPr lang="de-DE" sz="1800"/>
            </a:lvl2pPr>
            <a:lvl3pPr marL="914400" indent="0">
              <a:buNone/>
              <a:defRPr lang="de-DE" sz="1600"/>
            </a:lvl3pPr>
            <a:lvl4pPr marL="1371600" indent="0">
              <a:buNone/>
              <a:defRPr lang="de-DE" sz="1400"/>
            </a:lvl4pPr>
            <a:lvl5pPr marL="1828800" indent="0">
              <a:buNone/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 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inhalt und linke Abbildung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 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de-DE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de-DE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zwei Inhalte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zwei Inhalte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1"/>
            </a:lvl1pPr>
            <a:lvl2pPr>
              <a:spcBef>
                <a:spcPts val="0"/>
              </a:spcBef>
              <a:spcAft>
                <a:spcPts val="1200"/>
              </a:spcAft>
              <a:defRPr lang="de-DE" sz="1800" b="1"/>
            </a:lvl2pPr>
            <a:lvl3pPr>
              <a:spcBef>
                <a:spcPts val="0"/>
              </a:spcBef>
              <a:spcAft>
                <a:spcPts val="1200"/>
              </a:spcAft>
              <a:defRPr lang="de-DE" sz="1600" b="1"/>
            </a:lvl3pPr>
            <a:lvl4pPr>
              <a:spcBef>
                <a:spcPts val="0"/>
              </a:spcBef>
              <a:spcAft>
                <a:spcPts val="1200"/>
              </a:spcAft>
              <a:defRPr lang="de-DE" sz="1400" b="1"/>
            </a:lvl4pPr>
            <a:lvl5pPr>
              <a:spcBef>
                <a:spcPts val="0"/>
              </a:spcBef>
              <a:spcAft>
                <a:spcPts val="1200"/>
              </a:spcAft>
              <a:defRPr lang="de-DE" sz="1400" b="1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inhalt und recht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el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0"/>
            </a:lvl1pPr>
            <a:lvl2pPr>
              <a:spcBef>
                <a:spcPts val="0"/>
              </a:spcBef>
              <a:spcAft>
                <a:spcPts val="1200"/>
              </a:spcAft>
              <a:defRPr lang="de-DE" sz="1800" b="0"/>
            </a:lvl2pPr>
            <a:lvl3pPr>
              <a:spcBef>
                <a:spcPts val="0"/>
              </a:spcBef>
              <a:spcAft>
                <a:spcPts val="1200"/>
              </a:spcAft>
              <a:defRPr lang="de-DE" sz="1600" b="0"/>
            </a:lvl3pPr>
            <a:lvl4pPr>
              <a:spcBef>
                <a:spcPts val="0"/>
              </a:spcBef>
              <a:spcAft>
                <a:spcPts val="1200"/>
              </a:spcAft>
              <a:defRPr lang="de-DE" sz="1400" b="0"/>
            </a:lvl4pPr>
            <a:lvl5pPr>
              <a:spcBef>
                <a:spcPts val="0"/>
              </a:spcBef>
              <a:spcAft>
                <a:spcPts val="1200"/>
              </a:spcAft>
              <a:defRPr lang="de-DE" sz="1400" b="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inhalt und Tabelle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 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pic>
        <p:nvPicPr>
          <p:cNvPr id="9" name="Grafik 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0"/>
            </a:lvl1pPr>
            <a:lvl2pPr>
              <a:spcBef>
                <a:spcPts val="0"/>
              </a:spcBef>
              <a:spcAft>
                <a:spcPts val="1200"/>
              </a:spcAft>
              <a:defRPr lang="de-DE" sz="1800" b="0"/>
            </a:lvl2pPr>
            <a:lvl3pPr>
              <a:spcBef>
                <a:spcPts val="0"/>
              </a:spcBef>
              <a:spcAft>
                <a:spcPts val="1200"/>
              </a:spcAft>
              <a:defRPr lang="de-DE" sz="1600" b="0"/>
            </a:lvl3pPr>
            <a:lvl4pPr>
              <a:spcBef>
                <a:spcPts val="0"/>
              </a:spcBef>
              <a:spcAft>
                <a:spcPts val="1200"/>
              </a:spcAft>
              <a:defRPr lang="de-DE" sz="1400" b="0"/>
            </a:lvl4pPr>
            <a:lvl5pPr>
              <a:spcBef>
                <a:spcPts val="0"/>
              </a:spcBef>
              <a:spcAft>
                <a:spcPts val="1200"/>
              </a:spcAft>
              <a:defRPr lang="de-DE" sz="1400" b="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3" name="Tabellenplatzhalter 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de-DE" sz="2000"/>
            </a:lvl1pPr>
          </a:lstStyle>
          <a:p>
            <a:pPr rtl="0"/>
            <a:r>
              <a:rPr lang="de-DE"/>
              <a:t>Tabelle durch Klicken auf das Symbol einzufügen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zwei Inhalte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de-DE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de-DE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de-DE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de-DE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de-DE" sz="1600" b="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de-DE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de-DE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de-DE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de-DE" sz="1400" b="1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 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9" name="Tabellenplatzhalter 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de-DE" sz="2400"/>
            </a:lvl1pPr>
          </a:lstStyle>
          <a:p>
            <a:pPr rtl="0"/>
            <a:r>
              <a:rPr lang="de-DE"/>
              <a:t>Tabelle durch Klicken auf Symbol hinzufügen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bemerkung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de-DE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pic>
        <p:nvPicPr>
          <p:cNvPr id="2" name="Grafik 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6000">
              <a:srgbClr val="CCFFFF">
                <a:alpha val="61000"/>
              </a:srgbClr>
            </a:gs>
            <a:gs pos="0">
              <a:srgbClr val="5BD4FF">
                <a:alpha val="11000"/>
              </a:srgbClr>
            </a:gs>
          </a:gsLst>
          <a:lin ang="14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/>
              <a:t>Verkaufspräsentation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z.org/alzheimers-dementia/10_sign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dementiastatistics.org/about-dementia/subtypes/" TargetMode="External"/><Relationship Id="rId4" Type="http://schemas.openxmlformats.org/officeDocument/2006/relationships/hyperlink" Target="https://www.alz.org/alzheimers-dementia/stag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96100" y="6125407"/>
            <a:ext cx="5130801" cy="537908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By Linda Jakob, Tim Ruland &amp; Nicolas Weber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1</a:t>
            </a:fld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732"/>
            <a:ext cx="5720080" cy="2376487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br>
              <a:rPr lang="de-DE" sz="4400" dirty="0">
                <a:solidFill>
                  <a:schemeClr val="tx1"/>
                </a:solidFill>
              </a:rPr>
            </a:br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239F11E-259C-8AE9-9F46-52B3C3344863}"/>
              </a:ext>
            </a:extLst>
          </p:cNvPr>
          <p:cNvSpPr txBox="1"/>
          <p:nvPr/>
        </p:nvSpPr>
        <p:spPr>
          <a:xfrm>
            <a:off x="914400" y="2100056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Supporting</a:t>
            </a:r>
            <a:r>
              <a:rPr lang="de-DE" sz="2800" dirty="0"/>
              <a:t> People With Dementia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A033CEB-C2C8-094D-EFBB-FC22F2B3A14E}"/>
              </a:ext>
            </a:extLst>
          </p:cNvPr>
          <p:cNvSpPr txBox="1"/>
          <p:nvPr/>
        </p:nvSpPr>
        <p:spPr>
          <a:xfrm>
            <a:off x="914400" y="1343831"/>
            <a:ext cx="5276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latin typeface="+mj-lt"/>
              </a:rPr>
              <a:t>User Research</a:t>
            </a:r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3B30CC-5413-4F86-E4FD-56A3A82F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34A335-8473-2214-503B-46F7259D0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2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CE792DE-0F6E-26FC-965D-7A00FA1EE20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Information from the internet (Studies, Data, etc.) ​</a:t>
            </a:r>
          </a:p>
          <a:p>
            <a:r>
              <a:rPr lang="en-US" sz="2400" dirty="0"/>
              <a:t>Read papers about dementia ​</a:t>
            </a:r>
          </a:p>
          <a:p>
            <a:r>
              <a:rPr lang="en-US" sz="2400" dirty="0"/>
              <a:t>Interview with a woman with Alzheimer’s</a:t>
            </a:r>
            <a:endParaRPr lang="de-DE" sz="24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F58FBF9-BB3F-8ADD-F0E0-EB03A93697DA}"/>
              </a:ext>
            </a:extLst>
          </p:cNvPr>
          <p:cNvSpPr txBox="1"/>
          <p:nvPr/>
        </p:nvSpPr>
        <p:spPr>
          <a:xfrm>
            <a:off x="914399" y="909967"/>
            <a:ext cx="7667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 err="1">
                <a:latin typeface="+mj-lt"/>
              </a:rPr>
              <a:t>What</a:t>
            </a:r>
            <a:r>
              <a:rPr lang="de-DE" sz="4000" dirty="0">
                <a:latin typeface="+mj-lt"/>
              </a:rPr>
              <a:t> </a:t>
            </a:r>
            <a:r>
              <a:rPr lang="de-DE" sz="4000" dirty="0" err="1">
                <a:latin typeface="+mj-lt"/>
              </a:rPr>
              <a:t>did</a:t>
            </a:r>
            <a:r>
              <a:rPr lang="de-DE" sz="4000" dirty="0">
                <a:latin typeface="+mj-lt"/>
              </a:rPr>
              <a:t> </a:t>
            </a:r>
            <a:r>
              <a:rPr lang="de-DE" sz="4000" dirty="0" err="1">
                <a:latin typeface="+mj-lt"/>
              </a:rPr>
              <a:t>we</a:t>
            </a:r>
            <a:r>
              <a:rPr lang="de-DE" sz="4000" dirty="0">
                <a:latin typeface="+mj-lt"/>
              </a:rPr>
              <a:t> do </a:t>
            </a:r>
            <a:r>
              <a:rPr lang="de-DE" sz="4000" dirty="0" err="1">
                <a:latin typeface="+mj-lt"/>
              </a:rPr>
              <a:t>for</a:t>
            </a:r>
            <a:r>
              <a:rPr lang="de-DE" sz="4000" dirty="0">
                <a:latin typeface="+mj-lt"/>
              </a:rPr>
              <a:t> </a:t>
            </a:r>
            <a:r>
              <a:rPr lang="de-DE" sz="4000" dirty="0" err="1">
                <a:latin typeface="+mj-lt"/>
              </a:rPr>
              <a:t>our</a:t>
            </a:r>
            <a:r>
              <a:rPr lang="de-DE" sz="4000" dirty="0">
                <a:latin typeface="+mj-lt"/>
              </a:rPr>
              <a:t> </a:t>
            </a:r>
            <a:r>
              <a:rPr lang="de-DE" sz="4000" dirty="0" err="1">
                <a:latin typeface="+mj-lt"/>
              </a:rPr>
              <a:t>research</a:t>
            </a:r>
            <a:r>
              <a:rPr lang="de-DE" sz="4000" dirty="0">
                <a:latin typeface="+mj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23149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5377F7F-EBAF-4F25-4035-C4C4E30230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1D26F27-4639-727A-130C-7EC1B219596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6" name="Chart 10">
            <a:extLst>
              <a:ext uri="{FF2B5EF4-FFF2-40B4-BE49-F238E27FC236}">
                <a16:creationId xmlns:a16="http://schemas.microsoft.com/office/drawing/2014/main" id="{3A08C512-E619-44FA-4E68-7D39B95AA7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102218"/>
              </p:ext>
            </p:extLst>
          </p:nvPr>
        </p:nvGraphicFramePr>
        <p:xfrm>
          <a:off x="1541806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6723" y="1963738"/>
            <a:ext cx="9201151" cy="4155757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lvl="1"/>
            <a:r>
              <a:rPr lang="en-US" sz="2400" dirty="0"/>
              <a:t>Develops slowly over the years ​</a:t>
            </a:r>
          </a:p>
          <a:p>
            <a:pPr lvl="1"/>
            <a:r>
              <a:rPr lang="en-US" sz="2400" dirty="0"/>
              <a:t>Caused by death of brain cells ​</a:t>
            </a:r>
          </a:p>
          <a:p>
            <a:pPr lvl="1"/>
            <a:r>
              <a:rPr lang="en-US" sz="2400" dirty="0"/>
              <a:t>Symptoms vary (Depends on which part of the brain is affected)​</a:t>
            </a:r>
          </a:p>
          <a:p>
            <a:pPr lvl="1"/>
            <a:r>
              <a:rPr lang="en-US" sz="2400" dirty="0"/>
              <a:t>Most common symptom: Memory loss​</a:t>
            </a:r>
          </a:p>
          <a:p>
            <a:pPr lvl="1"/>
            <a:r>
              <a:rPr lang="en-US" sz="2400" dirty="0"/>
              <a:t>Early, Middle and Late Stage</a:t>
            </a:r>
          </a:p>
          <a:p>
            <a:pPr marL="457200" lvl="1" indent="0">
              <a:buNone/>
            </a:pPr>
            <a:endParaRPr lang="en-US" sz="1600" cap="none" dirty="0"/>
          </a:p>
          <a:p>
            <a:pPr marL="457200" lvl="1" indent="0">
              <a:buNone/>
            </a:pPr>
            <a:endParaRPr lang="en-US" sz="1600" cap="non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4</a:t>
            </a:fld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3FFD402-3C5A-832F-2FED-4439BBC6A7E9}"/>
              </a:ext>
            </a:extLst>
          </p:cNvPr>
          <p:cNvSpPr txBox="1"/>
          <p:nvPr/>
        </p:nvSpPr>
        <p:spPr>
          <a:xfrm>
            <a:off x="914399" y="909967"/>
            <a:ext cx="7667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 err="1">
                <a:latin typeface="+mj-lt"/>
              </a:rPr>
              <a:t>Alzheimer‘s</a:t>
            </a:r>
            <a:r>
              <a:rPr lang="de-DE" sz="4000" dirty="0">
                <a:latin typeface="+mj-lt"/>
              </a:rPr>
              <a:t> Disease</a:t>
            </a:r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5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AD554EE-1440-3470-3A98-34AD46B173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AEE24B-711C-AD23-23BE-9580DE6EA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8926" y="0"/>
            <a:ext cx="12957243" cy="692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50CE513-7811-5D39-7F05-E07E3E025AF7}"/>
              </a:ext>
            </a:extLst>
          </p:cNvPr>
          <p:cNvSpPr txBox="1"/>
          <p:nvPr/>
        </p:nvSpPr>
        <p:spPr>
          <a:xfrm>
            <a:off x="171443" y="400178"/>
            <a:ext cx="6478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b="1" dirty="0">
                <a:solidFill>
                  <a:schemeClr val="bg1"/>
                </a:solidFill>
              </a:rPr>
              <a:t>Interview </a:t>
            </a:r>
            <a:r>
              <a:rPr lang="de-DE" sz="3600" b="1" dirty="0" err="1">
                <a:solidFill>
                  <a:schemeClr val="bg1"/>
                </a:solidFill>
              </a:rPr>
              <a:t>with</a:t>
            </a:r>
            <a:r>
              <a:rPr lang="de-DE" sz="3600" b="1" dirty="0">
                <a:solidFill>
                  <a:schemeClr val="bg1"/>
                </a:solidFill>
              </a:rPr>
              <a:t> Margot</a:t>
            </a:r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1C2F4A-ABC8-39B2-B7BB-36C02B7A45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398" y="1982142"/>
            <a:ext cx="9429752" cy="3747180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en-US" sz="2400" dirty="0"/>
              <a:t>Caregivers visit her in the morning and in the evening ​</a:t>
            </a:r>
          </a:p>
          <a:p>
            <a:pPr rtl="0"/>
            <a:r>
              <a:rPr lang="en-US" sz="2400" dirty="0"/>
              <a:t>She helps at an elderly home ​</a:t>
            </a:r>
          </a:p>
          <a:p>
            <a:pPr rtl="0"/>
            <a:r>
              <a:rPr lang="en-US" sz="2400" dirty="0"/>
              <a:t>She likes going out with friends and walking in the park ​</a:t>
            </a:r>
          </a:p>
          <a:p>
            <a:pPr rtl="0"/>
            <a:r>
              <a:rPr lang="en-US" sz="2400" dirty="0"/>
              <a:t>Her son visits her a few times per week </a:t>
            </a:r>
            <a:endParaRPr lang="de-DE" sz="24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6</a:t>
            </a:fld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6E073A6-E131-9792-9D21-D700DD9684F7}"/>
              </a:ext>
            </a:extLst>
          </p:cNvPr>
          <p:cNvSpPr txBox="1"/>
          <p:nvPr/>
        </p:nvSpPr>
        <p:spPr>
          <a:xfrm>
            <a:off x="914399" y="909967"/>
            <a:ext cx="88296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What does her every day life look like?</a:t>
            </a:r>
            <a:endParaRPr lang="de-DE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7</a:t>
            </a:fld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77A0C5-3ADC-6EB0-20C4-785F8B11B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EDD42B2-2891-60D3-5E27-767DB8442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8EF78D6-4F0F-A9EA-F4D8-5D46E135E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6EE149B9-4C09-653F-7788-054E3C1865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22250"/>
            <a:ext cx="9391651" cy="3747180"/>
          </a:xfrm>
        </p:spPr>
        <p:txBody>
          <a:bodyPr>
            <a:normAutofit/>
          </a:bodyPr>
          <a:lstStyle/>
          <a:p>
            <a:r>
              <a:rPr lang="en-US" sz="2400" dirty="0"/>
              <a:t>Having trouble recognizing the people that surround her ​</a:t>
            </a:r>
          </a:p>
          <a:p>
            <a:r>
              <a:rPr lang="en-US" sz="2400" dirty="0"/>
              <a:t>Not being able to accomplish step by step tasks ​</a:t>
            </a:r>
          </a:p>
          <a:p>
            <a:r>
              <a:rPr lang="en-US" sz="2400" dirty="0"/>
              <a:t>Misplacing things (Keys, Bags, etc.) ​</a:t>
            </a:r>
            <a:endParaRPr lang="de-DE" sz="2400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7E341652-C969-37E5-AC45-9E1721951F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5D23BA7-0948-AA38-3D41-51AAE43E0D2F}"/>
              </a:ext>
            </a:extLst>
          </p:cNvPr>
          <p:cNvSpPr txBox="1"/>
          <p:nvPr/>
        </p:nvSpPr>
        <p:spPr>
          <a:xfrm>
            <a:off x="914399" y="909967"/>
            <a:ext cx="8601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What problems does she encounter?</a:t>
            </a:r>
            <a:endParaRPr lang="de-DE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54AE227-51AA-C235-C59C-88ED5375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4388AF3-0696-5C2A-26C1-AB87CD191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8</a:t>
            </a:fld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E20361-E01C-F90E-FA8E-219F4216C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67D9E64-AB11-1BF9-6888-7FA23EE6C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2C1D05D-A67F-9179-350E-99F5D138A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FAA3E70A-5A71-1B3D-49EA-659457A47FE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Mobile phone (no smartphone) ​</a:t>
            </a:r>
          </a:p>
          <a:p>
            <a:r>
              <a:rPr lang="en-US" sz="2400" dirty="0"/>
              <a:t>Television ​</a:t>
            </a:r>
          </a:p>
          <a:p>
            <a:r>
              <a:rPr lang="en-US" sz="2400" dirty="0"/>
              <a:t>Emergency button​</a:t>
            </a:r>
          </a:p>
          <a:p>
            <a:r>
              <a:rPr lang="en-US" sz="2400" dirty="0"/>
              <a:t>Air Tag ​</a:t>
            </a:r>
            <a:endParaRPr lang="de-DE" sz="2400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1E92EDE5-B023-1701-A6C7-2231EEFA072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D83A440-2F98-94E4-9495-D82B98DD63D1}"/>
              </a:ext>
            </a:extLst>
          </p:cNvPr>
          <p:cNvSpPr txBox="1"/>
          <p:nvPr/>
        </p:nvSpPr>
        <p:spPr>
          <a:xfrm>
            <a:off x="914399" y="909967"/>
            <a:ext cx="8601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What technology does she use?</a:t>
            </a:r>
            <a:endParaRPr lang="de-DE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7780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53884D-E9A1-DE1C-D3DA-1C6982BD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86AEC-68AF-077C-FAB6-A8723BAEA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9</a:t>
            </a:fld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C9163A-4C70-3513-9105-EF249CCD7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0D60B60-993B-7A16-3BE4-C304D47A2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AF16CD6-E7FA-CFA0-F080-890B2AB11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F9575449-2562-445F-2346-817F4FEAE0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0DFA039-1E68-8BAB-DD4C-184995ACD1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22250"/>
            <a:ext cx="8858251" cy="3747180"/>
          </a:xfrm>
        </p:spPr>
        <p:txBody>
          <a:bodyPr>
            <a:normAutofit/>
          </a:bodyPr>
          <a:lstStyle/>
          <a:p>
            <a:r>
              <a:rPr lang="en-US" sz="2400" dirty="0"/>
              <a:t>Someone or something helping her remember every day tasks ​</a:t>
            </a:r>
          </a:p>
          <a:p>
            <a:r>
              <a:rPr lang="en-US" sz="2400" dirty="0"/>
              <a:t>Observation​</a:t>
            </a:r>
          </a:p>
          <a:p>
            <a:r>
              <a:rPr lang="en-US" sz="2400" dirty="0"/>
              <a:t>Concise and recognizable design ​</a:t>
            </a:r>
          </a:p>
          <a:p>
            <a:r>
              <a:rPr lang="en-US" sz="2400" dirty="0"/>
              <a:t>Design from her past </a:t>
            </a:r>
            <a:endParaRPr lang="de-DE" sz="24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9BEBBA6-6F6A-3955-69D3-4AF95573CB74}"/>
              </a:ext>
            </a:extLst>
          </p:cNvPr>
          <p:cNvSpPr txBox="1"/>
          <p:nvPr/>
        </p:nvSpPr>
        <p:spPr>
          <a:xfrm>
            <a:off x="914399" y="909967"/>
            <a:ext cx="8601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 err="1">
                <a:latin typeface="+mj-lt"/>
              </a:rPr>
              <a:t>What</a:t>
            </a:r>
            <a:r>
              <a:rPr lang="de-DE" sz="4000" dirty="0">
                <a:latin typeface="+mj-lt"/>
              </a:rPr>
              <a:t> </a:t>
            </a:r>
            <a:r>
              <a:rPr lang="de-DE" sz="4000" dirty="0" err="1">
                <a:latin typeface="+mj-lt"/>
              </a:rPr>
              <a:t>does</a:t>
            </a:r>
            <a:r>
              <a:rPr lang="de-DE" sz="4000" dirty="0">
                <a:latin typeface="+mj-lt"/>
              </a:rPr>
              <a:t> </a:t>
            </a:r>
            <a:r>
              <a:rPr lang="de-DE" sz="4000" dirty="0" err="1">
                <a:latin typeface="+mj-lt"/>
              </a:rPr>
              <a:t>she</a:t>
            </a:r>
            <a:r>
              <a:rPr lang="de-DE" sz="4000" dirty="0">
                <a:latin typeface="+mj-lt"/>
              </a:rPr>
              <a:t> </a:t>
            </a:r>
            <a:r>
              <a:rPr lang="de-DE" sz="4000" dirty="0" err="1">
                <a:latin typeface="+mj-lt"/>
              </a:rPr>
              <a:t>need</a:t>
            </a:r>
            <a:r>
              <a:rPr lang="de-DE" sz="4000" dirty="0">
                <a:latin typeface="+mj-lt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977643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9A5301A-E506-DEEB-0553-D4ECD292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2AF66E-AB51-DABC-51AC-175A35B4A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10</a:t>
            </a:fld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9EB5F6-8C06-27F1-F509-B1D7A5EC3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D6111FC-456A-6F24-07EC-3CD041B5E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3283C8C-C929-24A1-CB18-DDCB4DA02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C70BA39-E814-5808-F6B1-D41635EC2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998DD99-A79C-9230-4B39-DB72682D8C2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8258176" cy="3747180"/>
          </a:xfrm>
        </p:spPr>
        <p:txBody>
          <a:bodyPr>
            <a:normAutofit/>
          </a:bodyPr>
          <a:lstStyle/>
          <a:p>
            <a:r>
              <a:rPr lang="en-US" sz="2400" dirty="0"/>
              <a:t>Help people with Alzheimer’s maintain their Quality of Life ​</a:t>
            </a:r>
          </a:p>
          <a:p>
            <a:r>
              <a:rPr lang="en-US" sz="2400" dirty="0"/>
              <a:t>More independence from family members and caregivers ​</a:t>
            </a:r>
          </a:p>
          <a:p>
            <a:endParaRPr lang="en-US" sz="2400" dirty="0"/>
          </a:p>
          <a:p>
            <a:r>
              <a:rPr lang="en-US" sz="2400" dirty="0"/>
              <a:t>Reminder (Audio User Interface)​</a:t>
            </a:r>
          </a:p>
          <a:p>
            <a:r>
              <a:rPr lang="en-US" sz="2400" dirty="0"/>
              <a:t>Always-on-bracelet with audio function​</a:t>
            </a:r>
          </a:p>
          <a:p>
            <a:r>
              <a:rPr lang="en-US" sz="2400" dirty="0"/>
              <a:t>Cooking helper </a:t>
            </a:r>
            <a:endParaRPr lang="de-DE" sz="2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CDB426D-525B-8132-DEB5-59CE557D5C8A}"/>
              </a:ext>
            </a:extLst>
          </p:cNvPr>
          <p:cNvSpPr txBox="1"/>
          <p:nvPr/>
        </p:nvSpPr>
        <p:spPr>
          <a:xfrm>
            <a:off x="914399" y="909967"/>
            <a:ext cx="8601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 err="1">
                <a:latin typeface="+mj-lt"/>
              </a:rPr>
              <a:t>Our</a:t>
            </a:r>
            <a:r>
              <a:rPr lang="de-DE" sz="4000" dirty="0">
                <a:latin typeface="+mj-lt"/>
              </a:rPr>
              <a:t> </a:t>
            </a:r>
            <a:r>
              <a:rPr lang="de-DE" sz="4000" dirty="0" err="1">
                <a:latin typeface="+mj-lt"/>
              </a:rPr>
              <a:t>first</a:t>
            </a:r>
            <a:r>
              <a:rPr lang="de-DE" sz="4000" dirty="0">
                <a:latin typeface="+mj-lt"/>
              </a:rPr>
              <a:t> </a:t>
            </a:r>
            <a:r>
              <a:rPr lang="de-DE" sz="4000" dirty="0" err="1">
                <a:latin typeface="+mj-lt"/>
              </a:rPr>
              <a:t>ideas</a:t>
            </a:r>
            <a:r>
              <a:rPr lang="de-DE" sz="40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649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2FE8F7-2BB7-87CE-8BFF-0631BD293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2F7961-2996-75AD-1688-21DCC6AD8C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37490"/>
            <a:ext cx="6905626" cy="3747180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>
                <a:hlinkClick r:id="rId3"/>
              </a:rPr>
              <a:t>https://www.alz.org/alzheimers-dementia/10_signs</a:t>
            </a: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>
                <a:hlinkClick r:id="rId4"/>
              </a:rPr>
              <a:t>https://www.alz.org/alzheimers-dementia/stages</a:t>
            </a:r>
            <a:r>
              <a:rPr lang="de-DE" sz="1800" dirty="0"/>
              <a:t> 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sng" strike="noStrike" dirty="0">
                <a:solidFill>
                  <a:srgbClr val="0563C1"/>
                </a:solidFill>
                <a:effectLst/>
                <a:latin typeface="Aptos Narrow" panose="020B0004020202020204" pitchFamily="34" charset="0"/>
                <a:hlinkClick r:id="rId5"/>
              </a:rPr>
              <a:t>https://dementiastatistics.org/about-dementia/subtypes/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​</a:t>
            </a:r>
            <a:endParaRPr lang="en-US" sz="1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CEBCF4-8F2A-466F-E3F7-D96B6C992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11</a:t>
            </a:fld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42E5460-FB8B-8877-5BD4-21B2DAC79F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1C826E9-69DC-9984-EA9C-E0035700F419}"/>
              </a:ext>
            </a:extLst>
          </p:cNvPr>
          <p:cNvSpPr txBox="1"/>
          <p:nvPr/>
        </p:nvSpPr>
        <p:spPr>
          <a:xfrm>
            <a:off x="914399" y="909967"/>
            <a:ext cx="8601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latin typeface="+mj-lt"/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4178185066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310_TF22318419_Win32" id="{C749F05C-A5EF-495F-B259-903DDCF7041F}" vid="{DABB12BF-E318-4EB1-BC0E-40AA0F2FD2E3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0</TotalTime>
  <Words>322</Words>
  <Application>Microsoft Office PowerPoint</Application>
  <PresentationFormat>Breitbild</PresentationFormat>
  <Paragraphs>69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 Narrow</vt:lpstr>
      <vt:lpstr>Arial</vt:lpstr>
      <vt:lpstr>Calibri</vt:lpstr>
      <vt:lpstr>Tenorite</vt:lpstr>
      <vt:lpstr>Benutzerdefiniert</vt:lpstr>
      <vt:lpstr>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 Dr. Jakob</dc:creator>
  <cp:lastModifiedBy>Anton Dr. Jakob</cp:lastModifiedBy>
  <cp:revision>21</cp:revision>
  <dcterms:created xsi:type="dcterms:W3CDTF">2024-10-12T15:01:25Z</dcterms:created>
  <dcterms:modified xsi:type="dcterms:W3CDTF">2024-10-14T19:57:08Z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